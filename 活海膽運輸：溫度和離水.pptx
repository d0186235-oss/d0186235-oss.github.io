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71" r:id="rId11"/>
    <p:sldId id="265" r:id="rId12"/>
    <p:sldId id="266" r:id="rId13"/>
    <p:sldId id="267" r:id="rId14"/>
    <p:sldId id="268" r:id="rId15"/>
    <p:sldId id="269" r:id="rId16"/>
    <p:sldId id="27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2" d="100"/>
          <a:sy n="72" d="100"/>
        </p:scale>
        <p:origin x="76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563766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332297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編輯母片文字樣式</a:t>
            </a:r>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427262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3027075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1714967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1837276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3780482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編輯母片文字樣式</a:t>
            </a:r>
          </a:p>
        </p:txBody>
      </p:sp>
      <p:sp>
        <p:nvSpPr>
          <p:cNvPr id="5" name="Date Placeholder 4"/>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1780731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編輯母片文字樣式</a:t>
            </a:r>
          </a:p>
        </p:txBody>
      </p:sp>
      <p:sp>
        <p:nvSpPr>
          <p:cNvPr id="5" name="Date Placeholder 4"/>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2450309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編輯母片文字樣式</a:t>
            </a:r>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35569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編輯母片文字樣式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編輯母片文字樣式</a:t>
            </a:r>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6D7BD31-1345-40F2-8E3F-9E524C865219}" type="slidenum">
              <a:rPr lang="zh-TW" altLang="en-US" smtClean="0"/>
              <a:t>‹#›</a:t>
            </a:fld>
            <a:endParaRPr lang="zh-TW"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26179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TW" altLang="en-US" smtClean="0"/>
              <a:t>按一下以編輯母片標題樣式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編輯母片文字樣式</a:t>
            </a:r>
          </a:p>
        </p:txBody>
      </p:sp>
      <p:sp>
        <p:nvSpPr>
          <p:cNvPr id="5" name="Date Placeholder 4"/>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3752962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編輯母片文字樣式</a:t>
            </a:r>
          </a:p>
        </p:txBody>
      </p:sp>
      <p:sp>
        <p:nvSpPr>
          <p:cNvPr id="5" name="Date Placeholder 4"/>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D7BD31-1345-40F2-8E3F-9E524C865219}" type="slidenum">
              <a:rPr lang="zh-TW" altLang="en-US" smtClean="0"/>
              <a:t>‹#›</a:t>
            </a:fld>
            <a:endParaRPr lang="zh-TW"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547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編輯母片文字樣式</a:t>
            </a:r>
          </a:p>
        </p:txBody>
      </p:sp>
      <p:sp>
        <p:nvSpPr>
          <p:cNvPr id="5" name="Date Placeholder 4"/>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1696847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1591538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59458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051305C-EBA5-467E-86C9-D61A30F470C0}" type="datetimeFigureOut">
              <a:rPr lang="zh-TW" altLang="en-US" smtClean="0"/>
              <a:t>2025/11/3</a:t>
            </a:fld>
            <a:endParaRPr lang="zh-TW"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6D7BD31-1345-40F2-8E3F-9E524C865219}" type="slidenum">
              <a:rPr lang="zh-TW" altLang="en-US" smtClean="0"/>
              <a:t>‹#›</a:t>
            </a:fld>
            <a:endParaRPr lang="zh-TW" altLang="en-US"/>
          </a:p>
        </p:txBody>
      </p:sp>
    </p:spTree>
    <p:extLst>
      <p:ext uri="{BB962C8B-B14F-4D97-AF65-F5344CB8AC3E}">
        <p14:creationId xmlns:p14="http://schemas.microsoft.com/office/powerpoint/2010/main" val="133611012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789043" y="353738"/>
            <a:ext cx="9144000" cy="2387600"/>
          </a:xfrm>
        </p:spPr>
        <p:txBody>
          <a:bodyPr>
            <a:normAutofit/>
          </a:bodyPr>
          <a:lstStyle/>
          <a:p>
            <a:pPr algn="ctr"/>
            <a:r>
              <a:rPr lang="zh-TW" altLang="en-US" sz="3200" dirty="0" smtClean="0"/>
              <a:t>活海膽運輸：溫度和離水時間對存活率的影響</a:t>
            </a:r>
            <a:endParaRPr lang="zh-TW" altLang="en-US" sz="3200" dirty="0"/>
          </a:p>
        </p:txBody>
      </p:sp>
      <p:sp>
        <p:nvSpPr>
          <p:cNvPr id="3" name="副標題 2"/>
          <p:cNvSpPr>
            <a:spLocks noGrp="1"/>
          </p:cNvSpPr>
          <p:nvPr>
            <p:ph type="subTitle" idx="1"/>
          </p:nvPr>
        </p:nvSpPr>
        <p:spPr>
          <a:xfrm>
            <a:off x="2862470" y="5841655"/>
            <a:ext cx="9144000" cy="1655762"/>
          </a:xfrm>
        </p:spPr>
        <p:txBody>
          <a:bodyPr>
            <a:normAutofit/>
          </a:bodyPr>
          <a:lstStyle/>
          <a:p>
            <a:pPr algn="r"/>
            <a:r>
              <a:rPr lang="en-US" altLang="zh-TW" sz="2000" dirty="0" smtClean="0"/>
              <a:t>11433028</a:t>
            </a:r>
            <a:r>
              <a:rPr lang="zh-TW" altLang="en-US" sz="2000" dirty="0" smtClean="0"/>
              <a:t>陳易辰</a:t>
            </a:r>
            <a:endParaRPr lang="en-US" altLang="zh-TW" sz="2000" dirty="0" smtClean="0"/>
          </a:p>
          <a:p>
            <a:pPr algn="r"/>
            <a:r>
              <a:rPr lang="zh-TW" altLang="en-US" sz="2000" dirty="0" smtClean="0"/>
              <a:t>指導教授</a:t>
            </a:r>
            <a:r>
              <a:rPr lang="en-US" altLang="zh-TW" sz="2000" dirty="0" smtClean="0"/>
              <a:t>:</a:t>
            </a:r>
            <a:r>
              <a:rPr lang="zh-TW" altLang="en-US" sz="2000" dirty="0" smtClean="0"/>
              <a:t>徐德華</a:t>
            </a:r>
            <a:endParaRPr lang="en-US" altLang="zh-TW" sz="2000" dirty="0"/>
          </a:p>
        </p:txBody>
      </p:sp>
    </p:spTree>
    <p:extLst>
      <p:ext uri="{BB962C8B-B14F-4D97-AF65-F5344CB8AC3E}">
        <p14:creationId xmlns:p14="http://schemas.microsoft.com/office/powerpoint/2010/main" val="1097886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zh-TW" dirty="0"/>
              <a:t>摘要</a:t>
            </a:r>
            <a:endParaRPr lang="zh-TW" altLang="en-US" dirty="0"/>
          </a:p>
        </p:txBody>
      </p:sp>
      <p:sp>
        <p:nvSpPr>
          <p:cNvPr id="3" name="內容版面配置區 2"/>
          <p:cNvSpPr>
            <a:spLocks noGrp="1"/>
          </p:cNvSpPr>
          <p:nvPr>
            <p:ph idx="1"/>
          </p:nvPr>
        </p:nvSpPr>
        <p:spPr>
          <a:xfrm>
            <a:off x="2589212" y="2040835"/>
            <a:ext cx="8915400" cy="3777622"/>
          </a:xfrm>
        </p:spPr>
        <p:txBody>
          <a:bodyPr>
            <a:normAutofit fontScale="92500" lnSpcReduction="20000"/>
          </a:bodyPr>
          <a:lstStyle/>
          <a:p>
            <a:r>
              <a:rPr lang="zh-TW" altLang="zh-TW" dirty="0">
                <a:latin typeface="標楷體" panose="03000509000000000000" pitchFamily="65" charset="-120"/>
                <a:ea typeface="標楷體" panose="03000509000000000000" pitchFamily="65" charset="-120"/>
              </a:rPr>
              <a:t>海</a:t>
            </a:r>
            <a:r>
              <a:rPr lang="zh-TW" altLang="zh-TW" dirty="0" smtClean="0">
                <a:latin typeface="標楷體" panose="03000509000000000000" pitchFamily="65" charset="-120"/>
                <a:ea typeface="標楷體" panose="03000509000000000000" pitchFamily="65" charset="-120"/>
              </a:rPr>
              <a:t>膽</a:t>
            </a:r>
            <a:r>
              <a:rPr lang="zh-TW" altLang="zh-TW" dirty="0">
                <a:latin typeface="標楷體" panose="03000509000000000000" pitchFamily="65" charset="-120"/>
                <a:ea typeface="標楷體" panose="03000509000000000000" pitchFamily="65" charset="-120"/>
              </a:rPr>
              <a:t>養殖可以彌補</a:t>
            </a:r>
            <a:r>
              <a:rPr lang="zh-TW" altLang="zh-TW" dirty="0" smtClean="0">
                <a:latin typeface="標楷體" panose="03000509000000000000" pitchFamily="65" charset="-120"/>
                <a:ea typeface="標楷體" panose="03000509000000000000" pitchFamily="65" charset="-120"/>
              </a:rPr>
              <a:t>野生</a:t>
            </a:r>
            <a:r>
              <a:rPr lang="zh-TW" altLang="en-US" dirty="0">
                <a:latin typeface="標楷體" panose="03000509000000000000" pitchFamily="65" charset="-120"/>
                <a:ea typeface="標楷體" panose="03000509000000000000" pitchFamily="65" charset="-120"/>
              </a:rPr>
              <a:t>海膽</a:t>
            </a:r>
            <a:r>
              <a:rPr lang="zh-TW" altLang="zh-TW" dirty="0" smtClean="0">
                <a:latin typeface="標楷體" panose="03000509000000000000" pitchFamily="65" charset="-120"/>
                <a:ea typeface="標楷體" panose="03000509000000000000" pitchFamily="65" charset="-120"/>
              </a:rPr>
              <a:t>的</a:t>
            </a:r>
            <a:r>
              <a:rPr lang="zh-TW" altLang="en-US" dirty="0" smtClean="0">
                <a:latin typeface="標楷體" panose="03000509000000000000" pitchFamily="65" charset="-120"/>
                <a:ea typeface="標楷體" panose="03000509000000000000" pitchFamily="65" charset="-120"/>
              </a:rPr>
              <a:t>數量</a:t>
            </a:r>
            <a:r>
              <a:rPr lang="zh-TW" altLang="zh-TW" dirty="0" smtClean="0">
                <a:latin typeface="標楷體" panose="03000509000000000000" pitchFamily="65" charset="-120"/>
                <a:ea typeface="標楷體" panose="03000509000000000000" pitchFamily="65" charset="-120"/>
              </a:rPr>
              <a:t>衰退</a:t>
            </a:r>
            <a:r>
              <a:rPr lang="zh-TW" altLang="zh-TW" dirty="0">
                <a:latin typeface="標楷體" panose="03000509000000000000" pitchFamily="65" charset="-120"/>
                <a:ea typeface="標楷體" panose="03000509000000000000" pitchFamily="65" charset="-120"/>
              </a:rPr>
              <a:t>，</a:t>
            </a:r>
            <a:r>
              <a:rPr lang="zh-TW" altLang="zh-TW" dirty="0" smtClean="0">
                <a:latin typeface="標楷體" panose="03000509000000000000" pitchFamily="65" charset="-120"/>
                <a:ea typeface="標楷體" panose="03000509000000000000" pitchFamily="65" charset="-120"/>
              </a:rPr>
              <a:t>目前</a:t>
            </a:r>
            <a:r>
              <a:rPr lang="zh-TW" altLang="zh-TW" dirty="0">
                <a:latin typeface="標楷體" panose="03000509000000000000" pitchFamily="65" charset="-120"/>
                <a:ea typeface="標楷體" panose="03000509000000000000" pitchFamily="65" charset="-120"/>
              </a:rPr>
              <a:t>關於如何經濟有效地將活海膽從水中運輸的研究仍很匱乏。 在本研究中</a:t>
            </a:r>
            <a:r>
              <a:rPr lang="zh-TW" altLang="zh-TW" dirty="0" smtClean="0">
                <a:latin typeface="標楷體" panose="03000509000000000000" pitchFamily="65" charset="-120"/>
                <a:ea typeface="標楷體" panose="03000509000000000000" pitchFamily="65" charset="-120"/>
              </a:rPr>
              <a:t>，記錄</a:t>
            </a:r>
            <a:r>
              <a:rPr lang="zh-TW" altLang="zh-TW" dirty="0">
                <a:latin typeface="標楷體" panose="03000509000000000000" pitchFamily="65" charset="-120"/>
                <a:ea typeface="標楷體" panose="03000509000000000000" pitchFamily="65" charset="-120"/>
              </a:rPr>
              <a:t>了裝有</a:t>
            </a:r>
            <a:r>
              <a:rPr lang="zh-TW" altLang="zh-TW" dirty="0">
                <a:solidFill>
                  <a:srgbClr val="FF0000"/>
                </a:solidFill>
                <a:latin typeface="標楷體" panose="03000509000000000000" pitchFamily="65" charset="-120"/>
                <a:ea typeface="標楷體" panose="03000509000000000000" pitchFamily="65" charset="-120"/>
              </a:rPr>
              <a:t>白棘三列海膽</a:t>
            </a:r>
            <a:r>
              <a:rPr lang="zh-TW" altLang="zh-TW" dirty="0">
                <a:latin typeface="標楷體" panose="03000509000000000000" pitchFamily="65" charset="-120"/>
                <a:ea typeface="標楷體" panose="03000509000000000000" pitchFamily="65" charset="-120"/>
              </a:rPr>
              <a:t>（學名：</a:t>
            </a:r>
            <a:r>
              <a:rPr lang="en-US" altLang="zh-TW" i="1" dirty="0" err="1">
                <a:latin typeface="標楷體" panose="03000509000000000000" pitchFamily="65" charset="-120"/>
                <a:ea typeface="標楷體" panose="03000509000000000000" pitchFamily="65" charset="-120"/>
              </a:rPr>
              <a:t>Tripneustes</a:t>
            </a:r>
            <a:r>
              <a:rPr lang="en-US" altLang="zh-TW" i="1" dirty="0">
                <a:latin typeface="標楷體" panose="03000509000000000000" pitchFamily="65" charset="-120"/>
                <a:ea typeface="標楷體" panose="03000509000000000000" pitchFamily="65" charset="-120"/>
              </a:rPr>
              <a:t> </a:t>
            </a:r>
            <a:r>
              <a:rPr lang="en-US" altLang="zh-TW" i="1" dirty="0" err="1">
                <a:latin typeface="標楷體" panose="03000509000000000000" pitchFamily="65" charset="-120"/>
                <a:ea typeface="標楷體" panose="03000509000000000000" pitchFamily="65" charset="-120"/>
              </a:rPr>
              <a:t>gratilla</a:t>
            </a:r>
            <a:r>
              <a:rPr lang="zh-TW" altLang="zh-TW" dirty="0">
                <a:latin typeface="標楷體" panose="03000509000000000000" pitchFamily="65" charset="-120"/>
                <a:ea typeface="標楷體" panose="03000509000000000000" pitchFamily="65" charset="-120"/>
              </a:rPr>
              <a:t>）的「冷藏箱」</a:t>
            </a:r>
            <a:r>
              <a:rPr lang="zh-TW" altLang="zh-TW" dirty="0" smtClean="0">
                <a:latin typeface="標楷體" panose="03000509000000000000" pitchFamily="65" charset="-120"/>
                <a:ea typeface="標楷體" panose="03000509000000000000" pitchFamily="65" charset="-120"/>
              </a:rPr>
              <a:t>內溫度</a:t>
            </a:r>
            <a:r>
              <a:rPr lang="zh-TW" altLang="zh-TW" dirty="0">
                <a:latin typeface="標楷體" panose="03000509000000000000" pitchFamily="65" charset="-120"/>
                <a:ea typeface="標楷體" panose="03000509000000000000" pitchFamily="65" charset="-120"/>
              </a:rPr>
              <a:t>，這些海膽分別以海水或乾燥方式包裝和運輸</a:t>
            </a:r>
            <a:r>
              <a:rPr lang="zh-TW" altLang="zh-TW" dirty="0" smtClean="0">
                <a:latin typeface="標楷體" panose="03000509000000000000" pitchFamily="65" charset="-120"/>
                <a:ea typeface="標楷體" panose="03000509000000000000" pitchFamily="65" charset="-120"/>
              </a:rPr>
              <a:t>。研究</a:t>
            </a:r>
            <a:r>
              <a:rPr lang="zh-TW" altLang="zh-TW" dirty="0">
                <a:latin typeface="標楷體" panose="03000509000000000000" pitchFamily="65" charset="-120"/>
                <a:ea typeface="標楷體" panose="03000509000000000000" pitchFamily="65" charset="-120"/>
              </a:rPr>
              <a:t>了離開水的時間（</a:t>
            </a:r>
            <a:r>
              <a:rPr lang="en-US" altLang="zh-TW" dirty="0">
                <a:latin typeface="標楷體" panose="03000509000000000000" pitchFamily="65" charset="-120"/>
                <a:ea typeface="標楷體" panose="03000509000000000000" pitchFamily="65" charset="-120"/>
              </a:rPr>
              <a:t>6</a:t>
            </a:r>
            <a:r>
              <a:rPr lang="zh-TW" altLang="zh-TW"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12</a:t>
            </a:r>
            <a:r>
              <a:rPr lang="zh-TW" altLang="zh-TW"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24</a:t>
            </a:r>
            <a:r>
              <a:rPr lang="zh-TW" altLang="zh-TW"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48 </a:t>
            </a:r>
            <a:r>
              <a:rPr lang="zh-TW" altLang="zh-TW" dirty="0">
                <a:latin typeface="標楷體" panose="03000509000000000000" pitchFamily="65" charset="-120"/>
                <a:ea typeface="標楷體" panose="03000509000000000000" pitchFamily="65" charset="-120"/>
              </a:rPr>
              <a:t>小時）和氣溫（冷藏</a:t>
            </a:r>
            <a:r>
              <a:rPr lang="en-US" altLang="zh-TW" dirty="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4 </a:t>
            </a:r>
            <a:r>
              <a:rPr lang="zh-TW" altLang="zh-TW" dirty="0">
                <a:latin typeface="標楷體" panose="03000509000000000000" pitchFamily="65" charset="-120"/>
                <a:ea typeface="標楷體" panose="03000509000000000000" pitchFamily="65" charset="-120"/>
              </a:rPr>
              <a:t>℃、</a:t>
            </a:r>
            <a:r>
              <a:rPr lang="zh-TW" altLang="zh-TW" dirty="0" smtClean="0">
                <a:latin typeface="標楷體" panose="03000509000000000000" pitchFamily="65" charset="-120"/>
                <a:ea typeface="標楷體" panose="03000509000000000000" pitchFamily="65" charset="-120"/>
              </a:rPr>
              <a:t>冷藏</a:t>
            </a:r>
            <a:r>
              <a:rPr lang="en-US" altLang="zh-TW" dirty="0" smtClean="0">
                <a:latin typeface="標楷體" panose="03000509000000000000" pitchFamily="65" charset="-120"/>
                <a:ea typeface="標楷體" panose="03000509000000000000" pitchFamily="65" charset="-120"/>
              </a:rPr>
              <a:t>12 </a:t>
            </a:r>
            <a:r>
              <a:rPr lang="zh-TW" altLang="zh-TW" dirty="0" smtClean="0">
                <a:latin typeface="標楷體" panose="03000509000000000000" pitchFamily="65" charset="-120"/>
                <a:ea typeface="標楷體" panose="03000509000000000000" pitchFamily="65" charset="-120"/>
              </a:rPr>
              <a:t>℃</a:t>
            </a:r>
            <a:r>
              <a:rPr lang="zh-TW" altLang="zh-TW" dirty="0">
                <a:latin typeface="標楷體" panose="03000509000000000000" pitchFamily="65" charset="-120"/>
                <a:ea typeface="標楷體" panose="03000509000000000000" pitchFamily="65" charset="-120"/>
              </a:rPr>
              <a:t> 、</a:t>
            </a:r>
            <a:r>
              <a:rPr lang="zh-TW" altLang="zh-TW" dirty="0" smtClean="0">
                <a:latin typeface="標楷體" panose="03000509000000000000" pitchFamily="65" charset="-120"/>
                <a:ea typeface="標楷體" panose="03000509000000000000" pitchFamily="65" charset="-120"/>
              </a:rPr>
              <a:t>環境</a:t>
            </a:r>
            <a:r>
              <a:rPr lang="zh-TW" altLang="zh-TW" dirty="0">
                <a:latin typeface="標楷體" panose="03000509000000000000" pitchFamily="65" charset="-120"/>
                <a:ea typeface="標楷體" panose="03000509000000000000" pitchFamily="65" charset="-120"/>
              </a:rPr>
              <a:t>溫度</a:t>
            </a:r>
            <a:r>
              <a:rPr lang="en-US" altLang="zh-TW" dirty="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27 </a:t>
            </a:r>
            <a:r>
              <a:rPr lang="zh-TW" altLang="zh-TW" dirty="0">
                <a:latin typeface="標楷體" panose="03000509000000000000" pitchFamily="65" charset="-120"/>
                <a:ea typeface="標楷體" panose="03000509000000000000" pitchFamily="65" charset="-120"/>
              </a:rPr>
              <a:t>℃）對兩種海膽（</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en-US" altLang="zh-TW" i="1" dirty="0">
                <a:latin typeface="標楷體" panose="03000509000000000000" pitchFamily="65" charset="-120"/>
                <a:ea typeface="標楷體" panose="03000509000000000000" pitchFamily="65" charset="-120"/>
              </a:rPr>
              <a:t> </a:t>
            </a:r>
            <a:r>
              <a:rPr lang="zh-TW" altLang="zh-TW" i="1" dirty="0">
                <a:latin typeface="標楷體" panose="03000509000000000000" pitchFamily="65" charset="-120"/>
                <a:ea typeface="標楷體" panose="03000509000000000000" pitchFamily="65" charset="-120"/>
              </a:rPr>
              <a:t>和</a:t>
            </a:r>
            <a:r>
              <a:rPr lang="en-US" altLang="zh-TW" i="1"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紅海膽</a:t>
            </a:r>
            <a:r>
              <a:rPr lang="en-US" altLang="zh-TW" i="1" dirty="0" err="1" smtClean="0">
                <a:latin typeface="標楷體" panose="03000509000000000000" pitchFamily="65" charset="-120"/>
                <a:ea typeface="標楷體" panose="03000509000000000000" pitchFamily="65" charset="-120"/>
              </a:rPr>
              <a:t>Heliocidaris</a:t>
            </a:r>
            <a:r>
              <a:rPr lang="en-US" altLang="zh-TW" i="1" dirty="0" smtClean="0">
                <a:latin typeface="標楷體" panose="03000509000000000000" pitchFamily="65" charset="-120"/>
                <a:ea typeface="標楷體" panose="03000509000000000000" pitchFamily="65" charset="-120"/>
              </a:rPr>
              <a:t> </a:t>
            </a:r>
            <a:r>
              <a:rPr lang="en-US" altLang="zh-TW" i="1" dirty="0" err="1">
                <a:latin typeface="標楷體" panose="03000509000000000000" pitchFamily="65" charset="-120"/>
                <a:ea typeface="標楷體" panose="03000509000000000000" pitchFamily="65" charset="-120"/>
              </a:rPr>
              <a:t>erythrogramma</a:t>
            </a:r>
            <a:r>
              <a:rPr lang="zh-TW" altLang="zh-TW" dirty="0">
                <a:latin typeface="標楷體" panose="03000509000000000000" pitchFamily="65" charset="-120"/>
                <a:ea typeface="標楷體" panose="03000509000000000000" pitchFamily="65" charset="-120"/>
              </a:rPr>
              <a:t>）的死亡率、濕重變化和適應性（透過翻正行為測量）的影響。兩種海膽在</a:t>
            </a:r>
            <a:r>
              <a:rPr lang="en-US" altLang="zh-TW" dirty="0">
                <a:latin typeface="標楷體" panose="03000509000000000000" pitchFamily="65" charset="-120"/>
                <a:ea typeface="標楷體" panose="03000509000000000000" pitchFamily="65" charset="-120"/>
              </a:rPr>
              <a:t>12</a:t>
            </a:r>
            <a:r>
              <a:rPr lang="zh-TW" altLang="zh-TW" dirty="0">
                <a:latin typeface="標楷體" panose="03000509000000000000" pitchFamily="65" charset="-120"/>
                <a:ea typeface="標楷體" panose="03000509000000000000" pitchFamily="65" charset="-120"/>
              </a:rPr>
              <a:t>℃下離水放置</a:t>
            </a:r>
            <a:r>
              <a:rPr lang="en-US" altLang="zh-TW" dirty="0">
                <a:latin typeface="標楷體" panose="03000509000000000000" pitchFamily="65" charset="-120"/>
                <a:ea typeface="標楷體" panose="03000509000000000000" pitchFamily="65" charset="-120"/>
              </a:rPr>
              <a:t>24</a:t>
            </a:r>
            <a:r>
              <a:rPr lang="zh-TW" altLang="zh-TW" dirty="0">
                <a:latin typeface="標楷體" panose="03000509000000000000" pitchFamily="65" charset="-120"/>
                <a:ea typeface="標楷體" panose="03000509000000000000" pitchFamily="65" charset="-120"/>
              </a:rPr>
              <a:t>小時後，死亡率（處理後</a:t>
            </a:r>
            <a:r>
              <a:rPr lang="en-US" altLang="zh-TW" dirty="0">
                <a:latin typeface="標楷體" panose="03000509000000000000" pitchFamily="65" charset="-120"/>
                <a:ea typeface="標楷體" panose="03000509000000000000" pitchFamily="65" charset="-120"/>
              </a:rPr>
              <a:t>15</a:t>
            </a:r>
            <a:r>
              <a:rPr lang="zh-TW" altLang="zh-TW" dirty="0">
                <a:latin typeface="標楷體" panose="03000509000000000000" pitchFamily="65" charset="-120"/>
                <a:ea typeface="標楷體" panose="03000509000000000000" pitchFamily="65" charset="-120"/>
              </a:rPr>
              <a:t>天）較低（</a:t>
            </a:r>
            <a:r>
              <a:rPr lang="en-US" altLang="zh-TW" dirty="0">
                <a:latin typeface="標楷體" panose="03000509000000000000" pitchFamily="65" charset="-120"/>
                <a:ea typeface="標楷體" panose="03000509000000000000" pitchFamily="65" charset="-120"/>
              </a:rPr>
              <a:t>0-20%</a:t>
            </a:r>
            <a:r>
              <a:rPr lang="zh-TW" altLang="zh-TW" dirty="0">
                <a:latin typeface="標楷體" panose="03000509000000000000" pitchFamily="65" charset="-120"/>
                <a:ea typeface="標楷體" panose="03000509000000000000" pitchFamily="65" charset="-120"/>
              </a:rPr>
              <a:t>）。 但在</a:t>
            </a:r>
            <a:r>
              <a:rPr lang="en-US" altLang="zh-TW" dirty="0">
                <a:latin typeface="標楷體" panose="03000509000000000000" pitchFamily="65" charset="-120"/>
                <a:ea typeface="標楷體" panose="03000509000000000000" pitchFamily="65" charset="-120"/>
              </a:rPr>
              <a:t>4</a:t>
            </a:r>
            <a:r>
              <a:rPr lang="zh-TW" altLang="zh-TW" dirty="0">
                <a:latin typeface="標楷體" panose="03000509000000000000" pitchFamily="65" charset="-120"/>
                <a:ea typeface="標楷體" panose="03000509000000000000" pitchFamily="65" charset="-120"/>
              </a:rPr>
              <a:t>℃下離水放置</a:t>
            </a:r>
            <a:r>
              <a:rPr lang="en-US" altLang="zh-TW" dirty="0">
                <a:latin typeface="標楷體" panose="03000509000000000000" pitchFamily="65" charset="-120"/>
                <a:ea typeface="標楷體" panose="03000509000000000000" pitchFamily="65" charset="-120"/>
              </a:rPr>
              <a:t>48</a:t>
            </a:r>
            <a:r>
              <a:rPr lang="zh-TW" altLang="zh-TW" dirty="0">
                <a:latin typeface="標楷體" panose="03000509000000000000" pitchFamily="65" charset="-120"/>
                <a:ea typeface="標楷體" panose="03000509000000000000" pitchFamily="65" charset="-120"/>
              </a:rPr>
              <a:t>小時後，</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zh-TW" altLang="zh-TW" dirty="0">
                <a:latin typeface="標楷體" panose="03000509000000000000" pitchFamily="65" charset="-120"/>
                <a:ea typeface="標楷體" panose="03000509000000000000" pitchFamily="65" charset="-120"/>
              </a:rPr>
              <a:t>的死亡率增加（約</a:t>
            </a:r>
            <a:r>
              <a:rPr lang="en-US" altLang="zh-TW" dirty="0">
                <a:latin typeface="標楷體" panose="03000509000000000000" pitchFamily="65" charset="-120"/>
                <a:ea typeface="標楷體" panose="03000509000000000000" pitchFamily="65" charset="-120"/>
              </a:rPr>
              <a:t>60%</a:t>
            </a:r>
            <a:r>
              <a:rPr lang="zh-TW" altLang="zh-TW" dirty="0">
                <a:latin typeface="標楷體" panose="03000509000000000000" pitchFamily="65" charset="-120"/>
                <a:ea typeface="標楷體" panose="03000509000000000000" pitchFamily="65" charset="-120"/>
              </a:rPr>
              <a:t>）。 但在相同處理條件下，</a:t>
            </a:r>
            <a:r>
              <a:rPr lang="en-US" altLang="zh-TW" i="1" dirty="0">
                <a:latin typeface="標楷體" panose="03000509000000000000" pitchFamily="65" charset="-120"/>
                <a:ea typeface="標楷體" panose="03000509000000000000" pitchFamily="65" charset="-120"/>
              </a:rPr>
              <a:t>H. </a:t>
            </a:r>
            <a:r>
              <a:rPr lang="en-US" altLang="zh-TW" i="1" dirty="0" err="1">
                <a:latin typeface="標楷體" panose="03000509000000000000" pitchFamily="65" charset="-120"/>
                <a:ea typeface="標楷體" panose="03000509000000000000" pitchFamily="65" charset="-120"/>
              </a:rPr>
              <a:t>erythrogramma</a:t>
            </a:r>
            <a:r>
              <a:rPr lang="zh-TW" altLang="zh-TW" dirty="0">
                <a:latin typeface="標楷體" panose="03000509000000000000" pitchFamily="65" charset="-120"/>
                <a:ea typeface="標楷體" panose="03000509000000000000" pitchFamily="65" charset="-120"/>
              </a:rPr>
              <a:t>的死亡率維持在約</a:t>
            </a:r>
            <a:r>
              <a:rPr lang="en-US" altLang="zh-TW" dirty="0">
                <a:latin typeface="標楷體" panose="03000509000000000000" pitchFamily="65" charset="-120"/>
                <a:ea typeface="標楷體" panose="03000509000000000000" pitchFamily="65" charset="-120"/>
              </a:rPr>
              <a:t>20%</a:t>
            </a:r>
            <a:r>
              <a:rPr lang="zh-TW" altLang="zh-TW" dirty="0">
                <a:latin typeface="標楷體" panose="03000509000000000000" pitchFamily="65" charset="-120"/>
                <a:ea typeface="標楷體" panose="03000509000000000000" pitchFamily="65" charset="-120"/>
              </a:rPr>
              <a:t>。 在</a:t>
            </a:r>
            <a:r>
              <a:rPr lang="en-US" altLang="zh-TW" dirty="0">
                <a:latin typeface="標楷體" panose="03000509000000000000" pitchFamily="65" charset="-120"/>
                <a:ea typeface="標楷體" panose="03000509000000000000" pitchFamily="65" charset="-120"/>
              </a:rPr>
              <a:t>12</a:t>
            </a:r>
            <a:r>
              <a:rPr lang="zh-TW" altLang="zh-TW" dirty="0">
                <a:latin typeface="標楷體" panose="03000509000000000000" pitchFamily="65" charset="-120"/>
                <a:ea typeface="標楷體" panose="03000509000000000000" pitchFamily="65" charset="-120"/>
              </a:rPr>
              <a:t>℃下暴露於空氣中的海膽的</a:t>
            </a:r>
            <a:r>
              <a:rPr lang="zh-TW" altLang="zh-TW" dirty="0">
                <a:solidFill>
                  <a:srgbClr val="FF0000"/>
                </a:solidFill>
                <a:latin typeface="標楷體" panose="03000509000000000000" pitchFamily="65" charset="-120"/>
                <a:ea typeface="標楷體" panose="03000509000000000000" pitchFamily="65" charset="-120"/>
              </a:rPr>
              <a:t>翻正</a:t>
            </a:r>
            <a:r>
              <a:rPr lang="zh-TW" altLang="zh-TW" dirty="0">
                <a:latin typeface="標楷體" panose="03000509000000000000" pitchFamily="65" charset="-120"/>
                <a:ea typeface="標楷體" panose="03000509000000000000" pitchFamily="65" charset="-120"/>
              </a:rPr>
              <a:t>時間比在</a:t>
            </a:r>
            <a:r>
              <a:rPr lang="en-US" altLang="zh-TW" dirty="0">
                <a:latin typeface="標楷體" panose="03000509000000000000" pitchFamily="65" charset="-120"/>
                <a:ea typeface="標楷體" panose="03000509000000000000" pitchFamily="65" charset="-120"/>
              </a:rPr>
              <a:t>4</a:t>
            </a:r>
            <a:r>
              <a:rPr lang="zh-TW" altLang="zh-TW"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27</a:t>
            </a:r>
            <a:r>
              <a:rPr lang="zh-TW" altLang="zh-TW" dirty="0">
                <a:latin typeface="標楷體" panose="03000509000000000000" pitchFamily="65" charset="-120"/>
                <a:ea typeface="標楷體" panose="03000509000000000000" pitchFamily="65" charset="-120"/>
              </a:rPr>
              <a:t>℃下更快。 海膽失去</a:t>
            </a:r>
            <a:r>
              <a:rPr lang="zh-TW" altLang="zh-TW" dirty="0" smtClean="0">
                <a:latin typeface="標楷體" panose="03000509000000000000" pitchFamily="65" charset="-120"/>
                <a:ea typeface="標楷體" panose="03000509000000000000" pitchFamily="65" charset="-120"/>
              </a:rPr>
              <a:t>的</a:t>
            </a:r>
            <a:r>
              <a:rPr lang="zh-TW" altLang="zh-TW" dirty="0" smtClean="0">
                <a:solidFill>
                  <a:srgbClr val="FF0000"/>
                </a:solidFill>
                <a:latin typeface="標楷體" panose="03000509000000000000" pitchFamily="65" charset="-120"/>
                <a:ea typeface="標楷體" panose="03000509000000000000" pitchFamily="65" charset="-120"/>
              </a:rPr>
              <a:t>體液</a:t>
            </a:r>
            <a:r>
              <a:rPr lang="zh-TW" altLang="zh-TW" dirty="0" smtClean="0">
                <a:latin typeface="標楷體" panose="03000509000000000000" pitchFamily="65" charset="-120"/>
                <a:ea typeface="標楷體" panose="03000509000000000000" pitchFamily="65" charset="-120"/>
              </a:rPr>
              <a:t>是</a:t>
            </a:r>
            <a:r>
              <a:rPr lang="zh-TW" altLang="zh-TW" dirty="0">
                <a:latin typeface="標楷體" panose="03000509000000000000" pitchFamily="65" charset="-120"/>
                <a:ea typeface="標楷體" panose="03000509000000000000" pitchFamily="65" charset="-120"/>
              </a:rPr>
              <a:t>死亡率的關鍵預測指標，在較高溫度下長時間暴露會導致海膽失去更高比例的體液。</a:t>
            </a:r>
            <a:r>
              <a:rPr lang="en-US" altLang="zh-TW" dirty="0">
                <a:latin typeface="標楷體" panose="03000509000000000000" pitchFamily="65" charset="-120"/>
                <a:ea typeface="標楷體" panose="03000509000000000000" pitchFamily="65" charset="-120"/>
              </a:rPr>
              <a:t> </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zh-TW" altLang="zh-TW" dirty="0">
                <a:latin typeface="標楷體" panose="03000509000000000000" pitchFamily="65" charset="-120"/>
                <a:ea typeface="標楷體" panose="03000509000000000000" pitchFamily="65" charset="-120"/>
              </a:rPr>
              <a:t>在</a:t>
            </a:r>
            <a:r>
              <a:rPr lang="zh-TW" altLang="zh-TW" dirty="0">
                <a:solidFill>
                  <a:srgbClr val="FF0000"/>
                </a:solidFill>
                <a:latin typeface="標楷體" panose="03000509000000000000" pitchFamily="65" charset="-120"/>
                <a:ea typeface="標楷體" panose="03000509000000000000" pitchFamily="65" charset="-120"/>
              </a:rPr>
              <a:t>離水後常排精卵</a:t>
            </a:r>
            <a:r>
              <a:rPr lang="zh-TW" altLang="zh-TW" dirty="0">
                <a:latin typeface="標楷體" panose="03000509000000000000" pitchFamily="65" charset="-120"/>
                <a:ea typeface="標楷體" panose="03000509000000000000" pitchFamily="65" charset="-120"/>
              </a:rPr>
              <a:t>。為了測試可能影響海膽健康的包裝策略，我們將</a:t>
            </a:r>
            <a:r>
              <a:rPr lang="en-US" altLang="zh-TW" dirty="0">
                <a:latin typeface="標楷體" panose="03000509000000000000" pitchFamily="65" charset="-120"/>
                <a:ea typeface="標楷體" panose="03000509000000000000" pitchFamily="65" charset="-120"/>
              </a:rPr>
              <a:t> </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en-US" altLang="zh-TW" dirty="0">
                <a:latin typeface="標楷體" panose="03000509000000000000" pitchFamily="65" charset="-120"/>
                <a:ea typeface="標楷體" panose="03000509000000000000" pitchFamily="65" charset="-120"/>
              </a:rPr>
              <a:t> </a:t>
            </a:r>
            <a:r>
              <a:rPr lang="zh-TW" altLang="zh-TW" dirty="0">
                <a:latin typeface="標楷體" panose="03000509000000000000" pitchFamily="65" charset="-120"/>
                <a:ea typeface="標楷體" panose="03000509000000000000" pitchFamily="65" charset="-120"/>
              </a:rPr>
              <a:t>在</a:t>
            </a:r>
            <a:r>
              <a:rPr lang="en-US" altLang="zh-TW" dirty="0">
                <a:latin typeface="標楷體" panose="03000509000000000000" pitchFamily="65" charset="-120"/>
                <a:ea typeface="標楷體" panose="03000509000000000000" pitchFamily="65" charset="-120"/>
              </a:rPr>
              <a:t> 28.6 </a:t>
            </a:r>
            <a:r>
              <a:rPr lang="zh-TW" altLang="zh-TW" dirty="0">
                <a:latin typeface="標楷體" panose="03000509000000000000" pitchFamily="65" charset="-120"/>
                <a:ea typeface="標楷體" panose="03000509000000000000" pitchFamily="65" charset="-120"/>
              </a:rPr>
              <a:t>℃ 的溫度下，分別置於密封容器、敞口容器、可排出排泄液的容器以及保持海膽周圍積液的容器中，並在乾燥狀態下包裝</a:t>
            </a:r>
            <a:r>
              <a:rPr lang="en-US" altLang="zh-TW" dirty="0">
                <a:latin typeface="標楷體" panose="03000509000000000000" pitchFamily="65" charset="-120"/>
                <a:ea typeface="標楷體" panose="03000509000000000000" pitchFamily="65" charset="-120"/>
              </a:rPr>
              <a:t> 12 </a:t>
            </a:r>
            <a:r>
              <a:rPr lang="zh-TW" altLang="zh-TW" dirty="0">
                <a:latin typeface="標楷體" panose="03000509000000000000" pitchFamily="65" charset="-120"/>
                <a:ea typeface="標楷體" panose="03000509000000000000" pitchFamily="65" charset="-120"/>
              </a:rPr>
              <a:t>小時。結果表明，這些處理方法均未對</a:t>
            </a:r>
            <a:r>
              <a:rPr lang="en-US" altLang="zh-TW" dirty="0">
                <a:latin typeface="標楷體" panose="03000509000000000000" pitchFamily="65" charset="-120"/>
                <a:ea typeface="標楷體" panose="03000509000000000000" pitchFamily="65" charset="-120"/>
              </a:rPr>
              <a:t> 15 </a:t>
            </a:r>
            <a:r>
              <a:rPr lang="zh-TW" altLang="zh-TW" dirty="0">
                <a:latin typeface="標楷體" panose="03000509000000000000" pitchFamily="65" charset="-120"/>
                <a:ea typeface="標楷體" panose="03000509000000000000" pitchFamily="65" charset="-120"/>
              </a:rPr>
              <a:t>天內的死亡率、體液流失量或翻正能力產生影響。我們的研究結果表明，只要溫度保持在</a:t>
            </a:r>
            <a:r>
              <a:rPr lang="en-US" altLang="zh-TW" dirty="0">
                <a:latin typeface="標楷體" panose="03000509000000000000" pitchFamily="65" charset="-120"/>
                <a:ea typeface="標楷體" panose="03000509000000000000" pitchFamily="65" charset="-120"/>
              </a:rPr>
              <a:t> 12 </a:t>
            </a:r>
            <a:r>
              <a:rPr lang="zh-TW" altLang="zh-TW" dirty="0">
                <a:latin typeface="標楷體" panose="03000509000000000000" pitchFamily="65" charset="-120"/>
                <a:ea typeface="標楷體" panose="03000509000000000000" pitchFamily="65" charset="-120"/>
              </a:rPr>
              <a:t>℃ 左右，養殖戶或許可以將</a:t>
            </a:r>
            <a:r>
              <a:rPr lang="en-US" altLang="zh-TW" dirty="0">
                <a:latin typeface="標楷體" panose="03000509000000000000" pitchFamily="65" charset="-120"/>
                <a:ea typeface="標楷體" panose="03000509000000000000" pitchFamily="65" charset="-120"/>
              </a:rPr>
              <a:t> </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en-US" altLang="zh-TW" i="1" dirty="0">
                <a:latin typeface="標楷體" panose="03000509000000000000" pitchFamily="65" charset="-120"/>
                <a:ea typeface="標楷體" panose="03000509000000000000" pitchFamily="65" charset="-120"/>
              </a:rPr>
              <a:t> </a:t>
            </a:r>
            <a:r>
              <a:rPr lang="zh-TW" altLang="zh-TW" dirty="0">
                <a:latin typeface="標楷體" panose="03000509000000000000" pitchFamily="65" charset="-120"/>
                <a:ea typeface="標楷體" panose="03000509000000000000" pitchFamily="65" charset="-120"/>
              </a:rPr>
              <a:t>和</a:t>
            </a:r>
            <a:r>
              <a:rPr lang="en-US" altLang="zh-TW" dirty="0">
                <a:latin typeface="標楷體" panose="03000509000000000000" pitchFamily="65" charset="-120"/>
                <a:ea typeface="標楷體" panose="03000509000000000000" pitchFamily="65" charset="-120"/>
              </a:rPr>
              <a:t> </a:t>
            </a:r>
            <a:r>
              <a:rPr lang="en-US" altLang="zh-TW" i="1" dirty="0">
                <a:latin typeface="標楷體" panose="03000509000000000000" pitchFamily="65" charset="-120"/>
                <a:ea typeface="標楷體" panose="03000509000000000000" pitchFamily="65" charset="-120"/>
              </a:rPr>
              <a:t>H. </a:t>
            </a:r>
            <a:r>
              <a:rPr lang="en-US" altLang="zh-TW" i="1" dirty="0" err="1">
                <a:latin typeface="標楷體" panose="03000509000000000000" pitchFamily="65" charset="-120"/>
                <a:ea typeface="標楷體" panose="03000509000000000000" pitchFamily="65" charset="-120"/>
              </a:rPr>
              <a:t>erythrogramma</a:t>
            </a:r>
            <a:r>
              <a:rPr lang="en-US" altLang="zh-TW" i="1" dirty="0">
                <a:latin typeface="標楷體" panose="03000509000000000000" pitchFamily="65" charset="-120"/>
                <a:ea typeface="標楷體" panose="03000509000000000000" pitchFamily="65" charset="-120"/>
              </a:rPr>
              <a:t> </a:t>
            </a:r>
            <a:r>
              <a:rPr lang="zh-TW" altLang="zh-TW" dirty="0">
                <a:latin typeface="標楷體" panose="03000509000000000000" pitchFamily="65" charset="-120"/>
                <a:ea typeface="標楷體" panose="03000509000000000000" pitchFamily="65" charset="-120"/>
              </a:rPr>
              <a:t>乾燥運輸長達</a:t>
            </a:r>
            <a:r>
              <a:rPr lang="en-US" altLang="zh-TW" dirty="0">
                <a:latin typeface="標楷體" panose="03000509000000000000" pitchFamily="65" charset="-120"/>
                <a:ea typeface="標楷體" panose="03000509000000000000" pitchFamily="65" charset="-120"/>
              </a:rPr>
              <a:t> 24 </a:t>
            </a:r>
            <a:r>
              <a:rPr lang="zh-TW" altLang="zh-TW" dirty="0">
                <a:latin typeface="標楷體" panose="03000509000000000000" pitchFamily="65" charset="-120"/>
                <a:ea typeface="標楷體" panose="03000509000000000000" pitchFamily="65" charset="-120"/>
              </a:rPr>
              <a:t>小時，且死亡率很低。進一步研究如何減少海膽在乾燥運輸過程中的體液流失，或許能提高其在更長運輸時間內的存活率。</a:t>
            </a:r>
          </a:p>
          <a:p>
            <a:endParaRPr lang="zh-TW" altLang="en-US" dirty="0"/>
          </a:p>
        </p:txBody>
      </p:sp>
    </p:spTree>
    <p:extLst>
      <p:ext uri="{BB962C8B-B14F-4D97-AF65-F5344CB8AC3E}">
        <p14:creationId xmlns:p14="http://schemas.microsoft.com/office/powerpoint/2010/main" val="2711421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dirty="0" smtClean="0"/>
              <a:t>海膽構造介紹</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5333" y="1457739"/>
            <a:ext cx="8830232" cy="5199834"/>
          </a:xfrm>
        </p:spPr>
      </p:pic>
    </p:spTree>
    <p:extLst>
      <p:ext uri="{BB962C8B-B14F-4D97-AF65-F5344CB8AC3E}">
        <p14:creationId xmlns:p14="http://schemas.microsoft.com/office/powerpoint/2010/main" val="2089577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dirty="0"/>
              <a:t>引言</a:t>
            </a:r>
          </a:p>
        </p:txBody>
      </p:sp>
      <p:sp>
        <p:nvSpPr>
          <p:cNvPr id="3" name="內容版面配置區 2"/>
          <p:cNvSpPr>
            <a:spLocks noGrp="1"/>
          </p:cNvSpPr>
          <p:nvPr>
            <p:ph idx="1"/>
          </p:nvPr>
        </p:nvSpPr>
        <p:spPr/>
        <p:txBody>
          <a:bodyPr>
            <a:normAutofit lnSpcReduction="10000"/>
          </a:bodyPr>
          <a:lstStyle/>
          <a:p>
            <a:r>
              <a:rPr lang="zh-TW" altLang="en-US" dirty="0" smtClean="0">
                <a:latin typeface="標楷體" panose="03000509000000000000" pitchFamily="65" charset="-120"/>
                <a:ea typeface="標楷體" panose="03000509000000000000" pitchFamily="65" charset="-120"/>
              </a:rPr>
              <a:t>海膽</a:t>
            </a:r>
            <a:r>
              <a:rPr lang="zh-TW" altLang="en-US" dirty="0">
                <a:latin typeface="標楷體" panose="03000509000000000000" pitchFamily="65" charset="-120"/>
                <a:ea typeface="標楷體" panose="03000509000000000000" pitchFamily="65" charset="-120"/>
              </a:rPr>
              <a:t>是一種珍貴的海鮮。全球海膽產量正從</a:t>
            </a:r>
            <a:r>
              <a:rPr lang="en-US" altLang="zh-TW" dirty="0">
                <a:latin typeface="標楷體" panose="03000509000000000000" pitchFamily="65" charset="-120"/>
                <a:ea typeface="標楷體" panose="03000509000000000000" pitchFamily="65" charset="-120"/>
              </a:rPr>
              <a:t>1995</a:t>
            </a:r>
            <a:r>
              <a:rPr lang="zh-TW" altLang="en-US" dirty="0">
                <a:latin typeface="標楷體" panose="03000509000000000000" pitchFamily="65" charset="-120"/>
                <a:ea typeface="標楷體" panose="03000509000000000000" pitchFamily="65" charset="-120"/>
              </a:rPr>
              <a:t>年</a:t>
            </a:r>
            <a:r>
              <a:rPr lang="en-US" altLang="zh-TW" dirty="0">
                <a:latin typeface="標楷體" panose="03000509000000000000" pitchFamily="65" charset="-120"/>
                <a:ea typeface="標楷體" panose="03000509000000000000" pitchFamily="65" charset="-120"/>
              </a:rPr>
              <a:t>10.8</a:t>
            </a:r>
            <a:r>
              <a:rPr lang="zh-TW" altLang="en-US" dirty="0">
                <a:latin typeface="標楷體" panose="03000509000000000000" pitchFamily="65" charset="-120"/>
                <a:ea typeface="標楷體" panose="03000509000000000000" pitchFamily="65" charset="-120"/>
              </a:rPr>
              <a:t>萬至</a:t>
            </a:r>
            <a:r>
              <a:rPr lang="en-US" altLang="zh-TW" dirty="0">
                <a:latin typeface="標楷體" panose="03000509000000000000" pitchFamily="65" charset="-120"/>
                <a:ea typeface="標楷體" panose="03000509000000000000" pitchFamily="65" charset="-120"/>
              </a:rPr>
              <a:t>12</a:t>
            </a:r>
            <a:r>
              <a:rPr lang="zh-TW" altLang="en-US" dirty="0">
                <a:latin typeface="標楷體" panose="03000509000000000000" pitchFamily="65" charset="-120"/>
                <a:ea typeface="標楷體" panose="03000509000000000000" pitchFamily="65" charset="-120"/>
              </a:rPr>
              <a:t>萬噸的高峰開始下降，原因是野生海膽族群過度捕撈（</a:t>
            </a:r>
            <a:r>
              <a:rPr lang="en-US" altLang="zh-TW" dirty="0">
                <a:latin typeface="標楷體" panose="03000509000000000000" pitchFamily="65" charset="-120"/>
                <a:ea typeface="標楷體" panose="03000509000000000000" pitchFamily="65" charset="-120"/>
              </a:rPr>
              <a:t>Andrew et al., 2002; Sun and Chiang, 2015</a:t>
            </a:r>
            <a:r>
              <a:rPr lang="zh-TW" altLang="en-US" dirty="0">
                <a:latin typeface="標楷體" panose="03000509000000000000" pitchFamily="65" charset="-120"/>
                <a:ea typeface="標楷體" panose="03000509000000000000" pitchFamily="65" charset="-120"/>
              </a:rPr>
              <a:t>）。水產養殖被視為滿足日益增長的需求的一種途徑，但它仍是一個新興產業（</a:t>
            </a:r>
            <a:r>
              <a:rPr lang="en-US" altLang="zh-TW" dirty="0">
                <a:latin typeface="標楷體" panose="03000509000000000000" pitchFamily="65" charset="-120"/>
                <a:ea typeface="標楷體" panose="03000509000000000000" pitchFamily="65" charset="-120"/>
              </a:rPr>
              <a:t>Sun and Chiang, 2015</a:t>
            </a:r>
            <a:r>
              <a:rPr lang="zh-TW" altLang="en-US" dirty="0">
                <a:latin typeface="標楷體" panose="03000509000000000000" pitchFamily="65" charset="-120"/>
                <a:ea typeface="標楷體" panose="03000509000000000000" pitchFamily="65" charset="-120"/>
              </a:rPr>
              <a:t>）。海膽養殖發展的一個障礙是，如何將海膽運送到市場尚不清楚（</a:t>
            </a:r>
            <a:r>
              <a:rPr lang="en-US" altLang="zh-TW" dirty="0">
                <a:latin typeface="標楷體" panose="03000509000000000000" pitchFamily="65" charset="-120"/>
                <a:ea typeface="標楷體" panose="03000509000000000000" pitchFamily="65" charset="-120"/>
              </a:rPr>
              <a:t>James and </a:t>
            </a:r>
            <a:r>
              <a:rPr lang="en-US" altLang="zh-TW" dirty="0" err="1">
                <a:latin typeface="標楷體" panose="03000509000000000000" pitchFamily="65" charset="-120"/>
                <a:ea typeface="標楷體" panose="03000509000000000000" pitchFamily="65" charset="-120"/>
              </a:rPr>
              <a:t>Evensen</a:t>
            </a:r>
            <a:r>
              <a:rPr lang="en-US" altLang="zh-TW" dirty="0">
                <a:latin typeface="標楷體" panose="03000509000000000000" pitchFamily="65" charset="-120"/>
                <a:ea typeface="標楷體" panose="03000509000000000000" pitchFamily="65" charset="-120"/>
              </a:rPr>
              <a:t>, 2022</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2019/2021</a:t>
            </a:r>
            <a:r>
              <a:rPr lang="zh-TW" altLang="en-US" dirty="0">
                <a:latin typeface="標楷體" panose="03000509000000000000" pitchFamily="65" charset="-120"/>
                <a:ea typeface="標楷體" panose="03000509000000000000" pitchFamily="65" charset="-120"/>
              </a:rPr>
              <a:t>年度，日本進口了約</a:t>
            </a:r>
            <a:r>
              <a:rPr lang="en-US" altLang="zh-TW" dirty="0">
                <a:latin typeface="標楷體" panose="03000509000000000000" pitchFamily="65" charset="-120"/>
                <a:ea typeface="標楷體" panose="03000509000000000000" pitchFamily="65" charset="-120"/>
              </a:rPr>
              <a:t>1.07</a:t>
            </a:r>
            <a:r>
              <a:rPr lang="zh-TW" altLang="en-US" dirty="0">
                <a:latin typeface="標楷體" panose="03000509000000000000" pitchFamily="65" charset="-120"/>
                <a:ea typeface="標楷體" panose="03000509000000000000" pitchFamily="65" charset="-120"/>
              </a:rPr>
              <a:t>萬噸加工和活海膽產品，約佔全球年出口量的</a:t>
            </a:r>
            <a:r>
              <a:rPr lang="en-US" altLang="zh-TW" dirty="0">
                <a:latin typeface="標楷體" panose="03000509000000000000" pitchFamily="65" charset="-120"/>
                <a:ea typeface="標楷體" panose="03000509000000000000" pitchFamily="65" charset="-120"/>
              </a:rPr>
              <a:t>75%</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FAO, 2022</a:t>
            </a:r>
            <a:r>
              <a:rPr lang="zh-TW" altLang="en-US" dirty="0">
                <a:latin typeface="標楷體" panose="03000509000000000000" pitchFamily="65" charset="-120"/>
                <a:ea typeface="標楷體" panose="03000509000000000000" pitchFamily="65" charset="-120"/>
              </a:rPr>
              <a:t>）。進口到日本的活海膽售價</a:t>
            </a:r>
            <a:r>
              <a:rPr lang="zh-TW" altLang="en-US" dirty="0" smtClean="0">
                <a:latin typeface="標楷體" panose="03000509000000000000" pitchFamily="65" charset="-120"/>
                <a:ea typeface="標楷體" panose="03000509000000000000" pitchFamily="65" charset="-120"/>
              </a:rPr>
              <a:t>高達冰鮮</a:t>
            </a:r>
            <a:r>
              <a:rPr lang="zh-TW" altLang="en-US" dirty="0">
                <a:latin typeface="標楷體" panose="03000509000000000000" pitchFamily="65" charset="-120"/>
                <a:ea typeface="標楷體" panose="03000509000000000000" pitchFamily="65" charset="-120"/>
              </a:rPr>
              <a:t>海膽或冷凍海膽（卵）的三倍。活</a:t>
            </a:r>
            <a:r>
              <a:rPr lang="zh-TW" altLang="en-US" dirty="0" smtClean="0">
                <a:latin typeface="標楷體" panose="03000509000000000000" pitchFamily="65" charset="-120"/>
                <a:ea typeface="標楷體" panose="03000509000000000000" pitchFamily="65" charset="-120"/>
              </a:rPr>
              <a:t>體綠海膽（</a:t>
            </a:r>
            <a:r>
              <a:rPr lang="en-US" altLang="zh-TW" i="1" dirty="0" err="1">
                <a:latin typeface="標楷體" panose="03000509000000000000" pitchFamily="65" charset="-120"/>
                <a:ea typeface="標楷體" panose="03000509000000000000" pitchFamily="65" charset="-120"/>
              </a:rPr>
              <a:t>Strongylocentrotus</a:t>
            </a:r>
            <a:r>
              <a:rPr lang="en-US" altLang="zh-TW" i="1" dirty="0">
                <a:latin typeface="標楷體" panose="03000509000000000000" pitchFamily="65" charset="-120"/>
                <a:ea typeface="標楷體" panose="03000509000000000000" pitchFamily="65" charset="-120"/>
              </a:rPr>
              <a:t> </a:t>
            </a:r>
            <a:r>
              <a:rPr lang="en-US" altLang="zh-TW" i="1" dirty="0" err="1">
                <a:latin typeface="標楷體" panose="03000509000000000000" pitchFamily="65" charset="-120"/>
                <a:ea typeface="標楷體" panose="03000509000000000000" pitchFamily="65" charset="-120"/>
              </a:rPr>
              <a:t>droe</a:t>
            </a:r>
            <a:r>
              <a:rPr lang="en-US" altLang="zh-TW" i="1" dirty="0">
                <a:latin typeface="標楷體" panose="03000509000000000000" pitchFamily="65" charset="-120"/>
                <a:ea typeface="標楷體" panose="03000509000000000000" pitchFamily="65" charset="-120"/>
              </a:rPr>
              <a:t> </a:t>
            </a:r>
            <a:r>
              <a:rPr lang="en-US" altLang="zh-TW" i="1" dirty="0" err="1">
                <a:latin typeface="標楷體" panose="03000509000000000000" pitchFamily="65" charset="-120"/>
                <a:ea typeface="標楷體" panose="03000509000000000000" pitchFamily="65" charset="-120"/>
              </a:rPr>
              <a:t>bachiensis</a:t>
            </a:r>
            <a:r>
              <a:rPr lang="zh-TW" altLang="en-US" dirty="0">
                <a:latin typeface="標楷體" panose="03000509000000000000" pitchFamily="65" charset="-120"/>
                <a:ea typeface="標楷體" panose="03000509000000000000" pitchFamily="65" charset="-120"/>
              </a:rPr>
              <a:t>）以乾燥</a:t>
            </a:r>
            <a:r>
              <a:rPr lang="zh-TW" altLang="en-US" dirty="0" smtClean="0">
                <a:latin typeface="標楷體" panose="03000509000000000000" pitchFamily="65" charset="-120"/>
                <a:ea typeface="標楷體" panose="03000509000000000000" pitchFamily="65" charset="-120"/>
              </a:rPr>
              <a:t>狀態</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不含水</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空運</a:t>
            </a:r>
            <a:r>
              <a:rPr lang="zh-TW" altLang="en-US" dirty="0">
                <a:latin typeface="標楷體" panose="03000509000000000000" pitchFamily="65" charset="-120"/>
                <a:ea typeface="標楷體" panose="03000509000000000000" pitchFamily="65" charset="-120"/>
              </a:rPr>
              <a:t>至日本，裝</a:t>
            </a:r>
            <a:r>
              <a:rPr lang="zh-TW" altLang="en-US" dirty="0" smtClean="0">
                <a:latin typeface="標楷體" panose="03000509000000000000" pitchFamily="65" charset="-120"/>
                <a:ea typeface="標楷體" panose="03000509000000000000" pitchFamily="65" charset="-120"/>
              </a:rPr>
              <a:t>在保麗龍箱</a:t>
            </a:r>
            <a:r>
              <a:rPr lang="zh-TW" altLang="en-US" dirty="0">
                <a:latin typeface="標楷體" panose="03000509000000000000" pitchFamily="65" charset="-120"/>
                <a:ea typeface="標楷體" panose="03000509000000000000" pitchFamily="65" charset="-120"/>
              </a:rPr>
              <a:t>中，箱內放置冷凍凝膠包以保持低溫，但具體的包裝流程資訊尚未公開（</a:t>
            </a:r>
            <a:r>
              <a:rPr lang="en-US" altLang="zh-TW" dirty="0">
                <a:latin typeface="標楷體" panose="03000509000000000000" pitchFamily="65" charset="-120"/>
                <a:ea typeface="標楷體" panose="03000509000000000000" pitchFamily="65" charset="-120"/>
              </a:rPr>
              <a:t>James and </a:t>
            </a:r>
            <a:r>
              <a:rPr lang="en-US" altLang="zh-TW" dirty="0" err="1">
                <a:latin typeface="標楷體" panose="03000509000000000000" pitchFamily="65" charset="-120"/>
                <a:ea typeface="標楷體" panose="03000509000000000000" pitchFamily="65" charset="-120"/>
              </a:rPr>
              <a:t>Evensen</a:t>
            </a:r>
            <a:r>
              <a:rPr lang="en-US" altLang="zh-TW" dirty="0">
                <a:latin typeface="標楷體" panose="03000509000000000000" pitchFamily="65" charset="-120"/>
                <a:ea typeface="標楷體" panose="03000509000000000000" pitchFamily="65" charset="-120"/>
              </a:rPr>
              <a:t>, 2018</a:t>
            </a:r>
            <a:r>
              <a:rPr lang="zh-TW" altLang="en-US" dirty="0">
                <a:latin typeface="標楷體" panose="03000509000000000000" pitchFamily="65" charset="-120"/>
                <a:ea typeface="標楷體" panose="03000509000000000000" pitchFamily="65" charset="-120"/>
              </a:rPr>
              <a:t>）。儘管大多數物種的數據缺失，但如果運輸時間較短（例如</a:t>
            </a:r>
            <a:r>
              <a:rPr lang="zh-TW" altLang="en-US" dirty="0" smtClean="0">
                <a:latin typeface="標楷體" panose="03000509000000000000" pitchFamily="65" charset="-120"/>
                <a:ea typeface="標楷體" panose="03000509000000000000" pitchFamily="65" charset="-120"/>
              </a:rPr>
              <a:t>幾小時）</a:t>
            </a:r>
            <a:r>
              <a:rPr lang="zh-TW" altLang="en-US" dirty="0">
                <a:latin typeface="標楷體" panose="03000509000000000000" pitchFamily="65" charset="-120"/>
                <a:ea typeface="標楷體" panose="03000509000000000000" pitchFamily="65" charset="-120"/>
              </a:rPr>
              <a:t>，乾燥運輸似乎是合適的，但如果物流鏈較長，則由於死亡率高，不採用乾燥運輸（</a:t>
            </a:r>
            <a:r>
              <a:rPr lang="en-US" altLang="zh-TW" dirty="0">
                <a:latin typeface="標楷體" panose="03000509000000000000" pitchFamily="65" charset="-120"/>
                <a:ea typeface="標楷體" panose="03000509000000000000" pitchFamily="65" charset="-120"/>
              </a:rPr>
              <a:t>James and </a:t>
            </a:r>
            <a:r>
              <a:rPr lang="en-US" altLang="zh-TW" dirty="0" err="1">
                <a:latin typeface="標楷體" panose="03000509000000000000" pitchFamily="65" charset="-120"/>
                <a:ea typeface="標楷體" panose="03000509000000000000" pitchFamily="65" charset="-120"/>
              </a:rPr>
              <a:t>Evensen</a:t>
            </a:r>
            <a:r>
              <a:rPr lang="en-US" altLang="zh-TW" dirty="0">
                <a:latin typeface="標楷體" panose="03000509000000000000" pitchFamily="65" charset="-120"/>
                <a:ea typeface="標楷體" panose="03000509000000000000" pitchFamily="65" charset="-120"/>
              </a:rPr>
              <a:t>, 2022; </a:t>
            </a:r>
            <a:r>
              <a:rPr lang="en-US" altLang="zh-TW" dirty="0" err="1">
                <a:latin typeface="標楷體" panose="03000509000000000000" pitchFamily="65" charset="-120"/>
                <a:ea typeface="標楷體" panose="03000509000000000000" pitchFamily="65" charset="-120"/>
              </a:rPr>
              <a:t>Stefánsson</a:t>
            </a:r>
            <a:r>
              <a:rPr lang="en-US" altLang="zh-TW" dirty="0">
                <a:latin typeface="標楷體" panose="03000509000000000000" pitchFamily="65" charset="-120"/>
                <a:ea typeface="標楷體" panose="03000509000000000000" pitchFamily="65" charset="-120"/>
              </a:rPr>
              <a:t> et al., 2017; Sun and Chiang, 2015</a:t>
            </a:r>
            <a:r>
              <a:rPr lang="zh-TW" altLang="en-US" dirty="0">
                <a:latin typeface="標楷體" panose="03000509000000000000" pitchFamily="65" charset="-120"/>
                <a:ea typeface="標楷體" panose="03000509000000000000" pitchFamily="65" charset="-120"/>
              </a:rPr>
              <a:t>）。尋找可靠且經濟高效的方式，</a:t>
            </a:r>
            <a:r>
              <a:rPr lang="zh-TW" altLang="en-US" dirty="0" smtClean="0">
                <a:latin typeface="標楷體" panose="03000509000000000000" pitchFamily="65" charset="-120"/>
                <a:ea typeface="標楷體" panose="03000509000000000000" pitchFamily="65" charset="-120"/>
              </a:rPr>
              <a:t>透過開發新的</a:t>
            </a:r>
            <a:r>
              <a:rPr lang="zh-TW" altLang="en-US" dirty="0">
                <a:latin typeface="標楷體" panose="03000509000000000000" pitchFamily="65" charset="-120"/>
                <a:ea typeface="標楷體" panose="03000509000000000000" pitchFamily="65" charset="-120"/>
              </a:rPr>
              <a:t>物流鏈運輸海膽，或許能讓更多生產</a:t>
            </a:r>
            <a:r>
              <a:rPr lang="zh-TW" altLang="en-US" dirty="0" smtClean="0">
                <a:latin typeface="標楷體" panose="03000509000000000000" pitchFamily="65" charset="-120"/>
                <a:ea typeface="標楷體" panose="03000509000000000000" pitchFamily="65" charset="-120"/>
              </a:rPr>
              <a:t>商或出口商得到更豐厚的利潤。</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75092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663687" y="186787"/>
            <a:ext cx="8801168" cy="2821455"/>
          </a:xfrm>
        </p:spPr>
        <p:txBody>
          <a:bodyPr>
            <a:noAutofit/>
          </a:bodyPr>
          <a:lstStyle/>
          <a:p>
            <a:r>
              <a:rPr lang="zh-TW" altLang="en-US" sz="1600" dirty="0" smtClean="0">
                <a:solidFill>
                  <a:schemeClr val="tx1"/>
                </a:solidFill>
                <a:latin typeface="標楷體" panose="03000509000000000000" pitchFamily="65" charset="-120"/>
                <a:ea typeface="標楷體" panose="03000509000000000000" pitchFamily="65" charset="-120"/>
              </a:rPr>
              <a:t>乾運</a:t>
            </a:r>
            <a:r>
              <a:rPr lang="zh-TW" altLang="en-US" sz="1600" dirty="0">
                <a:solidFill>
                  <a:schemeClr val="tx1"/>
                </a:solidFill>
                <a:latin typeface="標楷體" panose="03000509000000000000" pitchFamily="65" charset="-120"/>
                <a:ea typeface="標楷體" panose="03000509000000000000" pitchFamily="65" charset="-120"/>
              </a:rPr>
              <a:t>海膽的主要死亡原因被認為是脫水（</a:t>
            </a:r>
            <a:r>
              <a:rPr lang="en-US" altLang="zh-TW" sz="1600" dirty="0">
                <a:solidFill>
                  <a:schemeClr val="tx1"/>
                </a:solidFill>
                <a:latin typeface="標楷體" panose="03000509000000000000" pitchFamily="65" charset="-120"/>
                <a:ea typeface="標楷體" panose="03000509000000000000" pitchFamily="65" charset="-120"/>
              </a:rPr>
              <a:t>Dale et al., 2005</a:t>
            </a:r>
            <a:r>
              <a:rPr lang="zh-TW" altLang="en-US" sz="1600" dirty="0">
                <a:solidFill>
                  <a:schemeClr val="tx1"/>
                </a:solidFill>
                <a:latin typeface="標楷體" panose="03000509000000000000" pitchFamily="65" charset="-120"/>
                <a:ea typeface="標楷體" panose="03000509000000000000" pitchFamily="65" charset="-120"/>
              </a:rPr>
              <a:t>）。暴露於空氣中的海膽會產卵並從食道</a:t>
            </a:r>
            <a:r>
              <a:rPr lang="zh-TW" altLang="en-US" sz="1600" dirty="0" smtClean="0">
                <a:solidFill>
                  <a:schemeClr val="tx1"/>
                </a:solidFill>
                <a:latin typeface="標楷體" panose="03000509000000000000" pitchFamily="65" charset="-120"/>
                <a:ea typeface="標楷體" panose="03000509000000000000" pitchFamily="65" charset="-120"/>
              </a:rPr>
              <a:t>排出體液，</a:t>
            </a:r>
            <a:r>
              <a:rPr lang="zh-TW" altLang="en-US" sz="1600" dirty="0">
                <a:solidFill>
                  <a:schemeClr val="tx1"/>
                </a:solidFill>
                <a:latin typeface="標楷體" panose="03000509000000000000" pitchFamily="65" charset="-120"/>
                <a:ea typeface="標楷體" panose="03000509000000000000" pitchFamily="65" charset="-120"/>
              </a:rPr>
              <a:t>這可能會加劇脫水，導致其體重損失相當於三分之一（</a:t>
            </a:r>
            <a:r>
              <a:rPr lang="en-US" altLang="zh-TW" sz="1600" dirty="0" err="1">
                <a:solidFill>
                  <a:schemeClr val="tx1"/>
                </a:solidFill>
                <a:latin typeface="標楷體" panose="03000509000000000000" pitchFamily="65" charset="-120"/>
                <a:ea typeface="標楷體" panose="03000509000000000000" pitchFamily="65" charset="-120"/>
              </a:rPr>
              <a:t>Arafa</a:t>
            </a:r>
            <a:r>
              <a:rPr lang="en-US" altLang="zh-TW" sz="1600" dirty="0">
                <a:solidFill>
                  <a:schemeClr val="tx1"/>
                </a:solidFill>
                <a:latin typeface="標楷體" panose="03000509000000000000" pitchFamily="65" charset="-120"/>
                <a:ea typeface="標楷體" panose="03000509000000000000" pitchFamily="65" charset="-120"/>
              </a:rPr>
              <a:t> et al., 2007; Burnett et al., 2002; James and </a:t>
            </a:r>
            <a:r>
              <a:rPr lang="en-US" altLang="zh-TW" sz="1600" dirty="0" err="1">
                <a:solidFill>
                  <a:schemeClr val="tx1"/>
                </a:solidFill>
                <a:latin typeface="標楷體" panose="03000509000000000000" pitchFamily="65" charset="-120"/>
                <a:ea typeface="標楷體" panose="03000509000000000000" pitchFamily="65" charset="-120"/>
              </a:rPr>
              <a:t>Evensen</a:t>
            </a:r>
            <a:r>
              <a:rPr lang="en-US" altLang="zh-TW" sz="1600" dirty="0">
                <a:solidFill>
                  <a:schemeClr val="tx1"/>
                </a:solidFill>
                <a:latin typeface="標楷體" panose="03000509000000000000" pitchFamily="65" charset="-120"/>
                <a:ea typeface="標楷體" panose="03000509000000000000" pitchFamily="65" charset="-120"/>
              </a:rPr>
              <a:t>, 2022</a:t>
            </a:r>
            <a:r>
              <a:rPr lang="zh-TW" altLang="en-US" sz="1600" dirty="0">
                <a:solidFill>
                  <a:schemeClr val="tx1"/>
                </a:solidFill>
                <a:latin typeface="標楷體" panose="03000509000000000000" pitchFamily="65" charset="-120"/>
                <a:ea typeface="標楷體" panose="03000509000000000000" pitchFamily="65" charset="-120"/>
              </a:rPr>
              <a:t>）。然而，在一項商業試驗中，從挪威幹運到日本的綠海膽（</a:t>
            </a:r>
            <a:r>
              <a:rPr lang="en-US" altLang="zh-TW" sz="1600" i="1" dirty="0">
                <a:solidFill>
                  <a:schemeClr val="tx1"/>
                </a:solidFill>
                <a:latin typeface="標楷體" panose="03000509000000000000" pitchFamily="65" charset="-120"/>
                <a:ea typeface="標楷體" panose="03000509000000000000" pitchFamily="65" charset="-120"/>
              </a:rPr>
              <a:t>S. </a:t>
            </a:r>
            <a:r>
              <a:rPr lang="en-US" altLang="zh-TW" sz="1600" i="1" dirty="0" err="1">
                <a:solidFill>
                  <a:schemeClr val="tx1"/>
                </a:solidFill>
                <a:latin typeface="標楷體" panose="03000509000000000000" pitchFamily="65" charset="-120"/>
                <a:ea typeface="標楷體" panose="03000509000000000000" pitchFamily="65" charset="-120"/>
              </a:rPr>
              <a:t>droebachiensis</a:t>
            </a:r>
            <a:r>
              <a:rPr lang="zh-TW" altLang="en-US" sz="1600" dirty="0">
                <a:solidFill>
                  <a:schemeClr val="tx1"/>
                </a:solidFill>
                <a:latin typeface="標楷體" panose="03000509000000000000" pitchFamily="65" charset="-120"/>
                <a:ea typeface="標楷體" panose="03000509000000000000" pitchFamily="65" charset="-120"/>
              </a:rPr>
              <a:t>）僅損失了</a:t>
            </a:r>
            <a:r>
              <a:rPr lang="en-US" altLang="zh-TW" sz="1600" dirty="0">
                <a:solidFill>
                  <a:schemeClr val="tx1"/>
                </a:solidFill>
                <a:latin typeface="標楷體" panose="03000509000000000000" pitchFamily="65" charset="-120"/>
                <a:ea typeface="標楷體" panose="03000509000000000000" pitchFamily="65" charset="-120"/>
              </a:rPr>
              <a:t>8%</a:t>
            </a:r>
            <a:r>
              <a:rPr lang="zh-TW" altLang="en-US" sz="1600" dirty="0">
                <a:solidFill>
                  <a:schemeClr val="tx1"/>
                </a:solidFill>
                <a:latin typeface="標楷體" panose="03000509000000000000" pitchFamily="65" charset="-120"/>
                <a:ea typeface="標楷體" panose="03000509000000000000" pitchFamily="65" charset="-120"/>
              </a:rPr>
              <a:t>的體重（</a:t>
            </a:r>
            <a:r>
              <a:rPr lang="en-US" altLang="zh-TW" sz="1600" dirty="0">
                <a:solidFill>
                  <a:schemeClr val="tx1"/>
                </a:solidFill>
                <a:latin typeface="標楷體" panose="03000509000000000000" pitchFamily="65" charset="-120"/>
                <a:ea typeface="標楷體" panose="03000509000000000000" pitchFamily="65" charset="-120"/>
              </a:rPr>
              <a:t>James and </a:t>
            </a:r>
            <a:r>
              <a:rPr lang="en-US" altLang="zh-TW" sz="1600" dirty="0" err="1">
                <a:solidFill>
                  <a:schemeClr val="tx1"/>
                </a:solidFill>
                <a:latin typeface="標楷體" panose="03000509000000000000" pitchFamily="65" charset="-120"/>
                <a:ea typeface="標楷體" panose="03000509000000000000" pitchFamily="65" charset="-120"/>
              </a:rPr>
              <a:t>Evensen</a:t>
            </a:r>
            <a:r>
              <a:rPr lang="en-US" altLang="zh-TW" sz="1600" dirty="0">
                <a:solidFill>
                  <a:schemeClr val="tx1"/>
                </a:solidFill>
                <a:latin typeface="標楷體" panose="03000509000000000000" pitchFamily="65" charset="-120"/>
                <a:ea typeface="標楷體" panose="03000509000000000000" pitchFamily="65" charset="-120"/>
              </a:rPr>
              <a:t>, 2018</a:t>
            </a:r>
            <a:r>
              <a:rPr lang="zh-TW" altLang="en-US" sz="1600" dirty="0">
                <a:solidFill>
                  <a:schemeClr val="tx1"/>
                </a:solidFill>
                <a:latin typeface="標楷體" panose="03000509000000000000" pitchFamily="65" charset="-120"/>
                <a:ea typeface="標楷體" panose="03000509000000000000" pitchFamily="65" charset="-120"/>
              </a:rPr>
              <a:t>）。少量體液流失可能透過增加濕度產生正面影響，正如乾運甲殼類動物和貽貝所觀察到的（例如，</a:t>
            </a:r>
            <a:r>
              <a:rPr lang="en-US" altLang="zh-TW" sz="1600" dirty="0">
                <a:solidFill>
                  <a:schemeClr val="tx1"/>
                </a:solidFill>
                <a:latin typeface="標楷體" panose="03000509000000000000" pitchFamily="65" charset="-120"/>
                <a:ea typeface="標楷體" panose="03000509000000000000" pitchFamily="65" charset="-120"/>
              </a:rPr>
              <a:t>Delorme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2021</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err="1">
                <a:solidFill>
                  <a:schemeClr val="tx1"/>
                </a:solidFill>
                <a:latin typeface="標楷體" panose="03000509000000000000" pitchFamily="65" charset="-120"/>
                <a:ea typeface="標楷體" panose="03000509000000000000" pitchFamily="65" charset="-120"/>
              </a:rPr>
              <a:t>Samet</a:t>
            </a:r>
            <a:r>
              <a:rPr lang="en-US" altLang="zh-TW" sz="1600" dirty="0">
                <a:solidFill>
                  <a:schemeClr val="tx1"/>
                </a:solidFill>
                <a:latin typeface="標楷體" panose="03000509000000000000" pitchFamily="65" charset="-120"/>
                <a:ea typeface="標楷體" panose="03000509000000000000" pitchFamily="65" charset="-120"/>
              </a:rPr>
              <a:t> </a:t>
            </a:r>
            <a:r>
              <a:rPr lang="zh-TW" altLang="en-US" sz="1600" dirty="0">
                <a:solidFill>
                  <a:schemeClr val="tx1"/>
                </a:solidFill>
                <a:latin typeface="標楷體" panose="03000509000000000000" pitchFamily="65" charset="-120"/>
                <a:ea typeface="標楷體" panose="03000509000000000000" pitchFamily="65" charset="-120"/>
              </a:rPr>
              <a:t>和 </a:t>
            </a:r>
            <a:r>
              <a:rPr lang="en-US" altLang="zh-TW" sz="1600" dirty="0">
                <a:solidFill>
                  <a:schemeClr val="tx1"/>
                </a:solidFill>
                <a:latin typeface="標楷體" panose="03000509000000000000" pitchFamily="65" charset="-120"/>
                <a:ea typeface="標楷體" panose="03000509000000000000" pitchFamily="65" charset="-120"/>
              </a:rPr>
              <a:t>Nakamura</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1997</a:t>
            </a:r>
            <a:r>
              <a:rPr lang="zh-TW" altLang="en-US" sz="1600" dirty="0">
                <a:solidFill>
                  <a:schemeClr val="tx1"/>
                </a:solidFill>
                <a:latin typeface="標楷體" panose="03000509000000000000" pitchFamily="65" charset="-120"/>
                <a:ea typeface="標楷體" panose="03000509000000000000" pitchFamily="65" charset="-120"/>
              </a:rPr>
              <a:t>）。</a:t>
            </a:r>
            <a:r>
              <a:rPr lang="zh-TW" altLang="en-US" sz="1600" dirty="0" smtClean="0">
                <a:solidFill>
                  <a:schemeClr val="tx1"/>
                </a:solidFill>
                <a:latin typeface="標楷體" panose="03000509000000000000" pitchFamily="65" charset="-120"/>
                <a:ea typeface="標楷體" panose="03000509000000000000" pitchFamily="65" charset="-120"/>
              </a:rPr>
              <a:t>以純氧取代空氣的</a:t>
            </a:r>
            <a:r>
              <a:rPr lang="zh-TW" altLang="en-US" sz="1600" dirty="0">
                <a:solidFill>
                  <a:schemeClr val="tx1"/>
                </a:solidFill>
                <a:latin typeface="標楷體" panose="03000509000000000000" pitchFamily="65" charset="-120"/>
                <a:ea typeface="標楷體" panose="03000509000000000000" pitchFamily="65" charset="-120"/>
              </a:rPr>
              <a:t>海膽</a:t>
            </a:r>
            <a:r>
              <a:rPr lang="zh-TW" altLang="en-US" sz="1600" dirty="0" smtClean="0">
                <a:solidFill>
                  <a:schemeClr val="tx1"/>
                </a:solidFill>
                <a:latin typeface="標楷體" panose="03000509000000000000" pitchFamily="65" charset="-120"/>
                <a:ea typeface="標楷體" panose="03000509000000000000" pitchFamily="65" charset="-120"/>
              </a:rPr>
              <a:t>也更</a:t>
            </a:r>
            <a:r>
              <a:rPr lang="zh-TW" altLang="en-US" sz="1600" dirty="0">
                <a:solidFill>
                  <a:schemeClr val="tx1"/>
                </a:solidFill>
                <a:latin typeface="標楷體" panose="03000509000000000000" pitchFamily="65" charset="-120"/>
                <a:ea typeface="標楷體" panose="03000509000000000000" pitchFamily="65" charset="-120"/>
              </a:rPr>
              <a:t>能進行氣體交換，以避免缺氧（</a:t>
            </a:r>
            <a:r>
              <a:rPr lang="en-US" altLang="zh-TW" sz="1600" dirty="0">
                <a:solidFill>
                  <a:schemeClr val="tx1"/>
                </a:solidFill>
                <a:latin typeface="標楷體" panose="03000509000000000000" pitchFamily="65" charset="-120"/>
                <a:ea typeface="標楷體" panose="03000509000000000000" pitchFamily="65" charset="-120"/>
              </a:rPr>
              <a:t>Burnett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2002</a:t>
            </a:r>
            <a:r>
              <a:rPr lang="zh-TW" altLang="en-US" sz="1600" dirty="0">
                <a:solidFill>
                  <a:schemeClr val="tx1"/>
                </a:solidFill>
                <a:latin typeface="標楷體" panose="03000509000000000000" pitchFamily="65" charset="-120"/>
                <a:ea typeface="標楷體" panose="03000509000000000000" pitchFamily="65" charset="-120"/>
              </a:rPr>
              <a:t>）。更了解海膽暴露於空氣中時會流失多少體液以及體液流失與死亡率之間的關係，或許能為延長</a:t>
            </a:r>
            <a:r>
              <a:rPr lang="zh-TW" altLang="en-US" sz="1600" dirty="0" smtClean="0">
                <a:solidFill>
                  <a:schemeClr val="tx1"/>
                </a:solidFill>
                <a:latin typeface="標楷體" panose="03000509000000000000" pitchFamily="65" charset="-120"/>
                <a:ea typeface="標楷體" panose="03000509000000000000" pitchFamily="65" charset="-120"/>
              </a:rPr>
              <a:t>海膽乾運</a:t>
            </a:r>
            <a:r>
              <a:rPr lang="zh-TW" altLang="en-US" sz="1600" dirty="0">
                <a:solidFill>
                  <a:schemeClr val="tx1"/>
                </a:solidFill>
                <a:latin typeface="標楷體" panose="03000509000000000000" pitchFamily="65" charset="-120"/>
                <a:ea typeface="標楷體" panose="03000509000000000000" pitchFamily="65" charset="-120"/>
              </a:rPr>
              <a:t>時間提供新的思路。降低乾運海膽死亡率的一種方法可能是降低溫度。較低的溫度通常會改善暴露於空氣中的海洋無脊椎動物的健康狀況，因為呼吸和新陳代謝受到抑制，從而延緩缺氧和厭氧代謝的負面影響（例如，</a:t>
            </a:r>
            <a:r>
              <a:rPr lang="en-US" altLang="zh-TW" sz="1600" dirty="0">
                <a:solidFill>
                  <a:schemeClr val="tx1"/>
                </a:solidFill>
                <a:latin typeface="標楷體" panose="03000509000000000000" pitchFamily="65" charset="-120"/>
                <a:ea typeface="標楷體" panose="03000509000000000000" pitchFamily="65" charset="-120"/>
              </a:rPr>
              <a:t>de Andrade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2021</a:t>
            </a:r>
            <a:r>
              <a:rPr lang="zh-TW" altLang="en-US" sz="1600" dirty="0" smtClean="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 </a:t>
            </a:r>
            <a:r>
              <a:rPr lang="en-US" altLang="zh-TW" sz="1600" dirty="0" err="1">
                <a:solidFill>
                  <a:schemeClr val="tx1"/>
                </a:solidFill>
                <a:latin typeface="標楷體" panose="03000509000000000000" pitchFamily="65" charset="-120"/>
                <a:ea typeface="標楷體" panose="03000509000000000000" pitchFamily="65" charset="-120"/>
              </a:rPr>
              <a:t>Giomi</a:t>
            </a:r>
            <a:r>
              <a:rPr lang="en-US" altLang="zh-TW" sz="1600" dirty="0">
                <a:solidFill>
                  <a:schemeClr val="tx1"/>
                </a:solidFill>
                <a:latin typeface="標楷體" panose="03000509000000000000" pitchFamily="65" charset="-120"/>
                <a:ea typeface="標楷體" panose="03000509000000000000" pitchFamily="65" charset="-120"/>
              </a:rPr>
              <a:t>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2008</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Morris </a:t>
            </a:r>
            <a:r>
              <a:rPr lang="zh-TW" altLang="en-US" sz="1600" dirty="0">
                <a:solidFill>
                  <a:schemeClr val="tx1"/>
                </a:solidFill>
                <a:latin typeface="標楷體" panose="03000509000000000000" pitchFamily="65" charset="-120"/>
                <a:ea typeface="標楷體" panose="03000509000000000000" pitchFamily="65" charset="-120"/>
              </a:rPr>
              <a:t>與 </a:t>
            </a:r>
            <a:r>
              <a:rPr lang="en-US" altLang="zh-TW" sz="1600" dirty="0">
                <a:solidFill>
                  <a:schemeClr val="tx1"/>
                </a:solidFill>
                <a:latin typeface="標楷體" panose="03000509000000000000" pitchFamily="65" charset="-120"/>
                <a:ea typeface="標楷體" panose="03000509000000000000" pitchFamily="65" charset="-120"/>
              </a:rPr>
              <a:t>Oliver</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1999</a:t>
            </a:r>
            <a:r>
              <a:rPr lang="zh-TW" altLang="en-US" sz="1600" dirty="0">
                <a:solidFill>
                  <a:schemeClr val="tx1"/>
                </a:solidFill>
                <a:latin typeface="標楷體" panose="03000509000000000000" pitchFamily="65" charset="-120"/>
                <a:ea typeface="標楷體" panose="03000509000000000000" pitchFamily="65" charset="-120"/>
              </a:rPr>
              <a:t>）。</a:t>
            </a:r>
          </a:p>
        </p:txBody>
      </p:sp>
      <p:sp>
        <p:nvSpPr>
          <p:cNvPr id="3" name="內容版面配置區 2"/>
          <p:cNvSpPr>
            <a:spLocks noGrp="1"/>
          </p:cNvSpPr>
          <p:nvPr>
            <p:ph idx="1"/>
          </p:nvPr>
        </p:nvSpPr>
        <p:spPr>
          <a:xfrm>
            <a:off x="2350673" y="3432313"/>
            <a:ext cx="8915400" cy="3777622"/>
          </a:xfrm>
        </p:spPr>
        <p:txBody>
          <a:bodyPr>
            <a:normAutofit/>
          </a:bodyPr>
          <a:lstStyle/>
          <a:p>
            <a:r>
              <a:rPr lang="zh-TW" altLang="en-US" sz="1600" dirty="0" smtClean="0">
                <a:solidFill>
                  <a:schemeClr val="tx1"/>
                </a:solidFill>
                <a:latin typeface="標楷體" panose="03000509000000000000" pitchFamily="65" charset="-120"/>
                <a:ea typeface="標楷體" panose="03000509000000000000" pitchFamily="65" charset="-120"/>
              </a:rPr>
              <a:t>本三</a:t>
            </a:r>
            <a:r>
              <a:rPr lang="zh-TW" altLang="en-US" sz="1600" dirty="0">
                <a:solidFill>
                  <a:schemeClr val="tx1"/>
                </a:solidFill>
                <a:latin typeface="標楷體" panose="03000509000000000000" pitchFamily="65" charset="-120"/>
                <a:ea typeface="標楷體" panose="03000509000000000000" pitchFamily="65" charset="-120"/>
              </a:rPr>
              <a:t>項研究測試了溫度對暴露於空氣中的海膽的影響，結果表明，只要溫度不低於 </a:t>
            </a:r>
            <a:r>
              <a:rPr lang="en-US" altLang="zh-TW" sz="1600" dirty="0">
                <a:solidFill>
                  <a:schemeClr val="tx1"/>
                </a:solidFill>
                <a:latin typeface="標楷體" panose="03000509000000000000" pitchFamily="65" charset="-120"/>
                <a:ea typeface="標楷體" panose="03000509000000000000" pitchFamily="65" charset="-120"/>
              </a:rPr>
              <a:t>0°C</a:t>
            </a:r>
            <a:r>
              <a:rPr lang="zh-TW" altLang="en-US" sz="1600" dirty="0">
                <a:solidFill>
                  <a:schemeClr val="tx1"/>
                </a:solidFill>
                <a:latin typeface="標楷體" panose="03000509000000000000" pitchFamily="65" charset="-120"/>
                <a:ea typeface="標楷體" panose="03000509000000000000" pitchFamily="65" charset="-120"/>
              </a:rPr>
              <a:t>，降低溫度通常會降低死亡率並延長海膽的耐受時間（</a:t>
            </a:r>
            <a:r>
              <a:rPr lang="en-US" altLang="zh-TW" sz="1600" dirty="0" err="1">
                <a:solidFill>
                  <a:schemeClr val="tx1"/>
                </a:solidFill>
                <a:latin typeface="標楷體" panose="03000509000000000000" pitchFamily="65" charset="-120"/>
                <a:ea typeface="標楷體" panose="03000509000000000000" pitchFamily="65" charset="-120"/>
              </a:rPr>
              <a:t>Arafa</a:t>
            </a:r>
            <a:r>
              <a:rPr lang="en-US" altLang="zh-TW" sz="1600" dirty="0">
                <a:solidFill>
                  <a:schemeClr val="tx1"/>
                </a:solidFill>
                <a:latin typeface="標楷體" panose="03000509000000000000" pitchFamily="65" charset="-120"/>
                <a:ea typeface="標楷體" panose="03000509000000000000" pitchFamily="65" charset="-120"/>
              </a:rPr>
              <a:t>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2007</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James </a:t>
            </a:r>
            <a:r>
              <a:rPr lang="zh-TW" altLang="en-US" sz="1600" dirty="0">
                <a:solidFill>
                  <a:schemeClr val="tx1"/>
                </a:solidFill>
                <a:latin typeface="標楷體" panose="03000509000000000000" pitchFamily="65" charset="-120"/>
                <a:ea typeface="標楷體" panose="03000509000000000000" pitchFamily="65" charset="-120"/>
              </a:rPr>
              <a:t>和 </a:t>
            </a:r>
            <a:r>
              <a:rPr lang="en-US" altLang="zh-TW" sz="1600" dirty="0" err="1">
                <a:solidFill>
                  <a:schemeClr val="tx1"/>
                </a:solidFill>
                <a:latin typeface="標楷體" panose="03000509000000000000" pitchFamily="65" charset="-120"/>
                <a:ea typeface="標楷體" panose="03000509000000000000" pitchFamily="65" charset="-120"/>
              </a:rPr>
              <a:t>Evensen</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2022</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Miller </a:t>
            </a:r>
            <a:r>
              <a:rPr lang="zh-TW" altLang="en-US" sz="1600" dirty="0">
                <a:solidFill>
                  <a:schemeClr val="tx1"/>
                </a:solidFill>
                <a:latin typeface="標楷體" panose="03000509000000000000" pitchFamily="65" charset="-120"/>
                <a:ea typeface="標楷體" panose="03000509000000000000" pitchFamily="65" charset="-120"/>
              </a:rPr>
              <a:t>和 </a:t>
            </a:r>
            <a:r>
              <a:rPr lang="en-US" altLang="zh-TW" sz="1600" dirty="0">
                <a:solidFill>
                  <a:schemeClr val="tx1"/>
                </a:solidFill>
                <a:latin typeface="標楷體" panose="03000509000000000000" pitchFamily="65" charset="-120"/>
                <a:ea typeface="標楷體" panose="03000509000000000000" pitchFamily="65" charset="-120"/>
              </a:rPr>
              <a:t>Bishop</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a:solidFill>
                  <a:schemeClr val="tx1"/>
                </a:solidFill>
                <a:latin typeface="標楷體" panose="03000509000000000000" pitchFamily="65" charset="-120"/>
                <a:ea typeface="標楷體" panose="03000509000000000000" pitchFamily="65" charset="-120"/>
              </a:rPr>
              <a:t>1973</a:t>
            </a:r>
            <a:r>
              <a:rPr lang="zh-TW" altLang="en-US" sz="1600" dirty="0">
                <a:solidFill>
                  <a:schemeClr val="tx1"/>
                </a:solidFill>
                <a:latin typeface="標楷體" panose="03000509000000000000" pitchFamily="65" charset="-120"/>
                <a:ea typeface="標楷體" panose="03000509000000000000" pitchFamily="65" charset="-120"/>
              </a:rPr>
              <a:t>）。例如</a:t>
            </a:r>
            <a:r>
              <a:rPr lang="zh-TW" altLang="en-US" sz="1600" dirty="0" smtClean="0">
                <a:solidFill>
                  <a:schemeClr val="tx1"/>
                </a:solidFill>
                <a:latin typeface="標楷體" panose="03000509000000000000" pitchFamily="65" charset="-120"/>
                <a:ea typeface="標楷體" panose="03000509000000000000" pitchFamily="65" charset="-120"/>
              </a:rPr>
              <a:t>，歐洲紫海膽 </a:t>
            </a:r>
            <a:r>
              <a:rPr lang="en-US" altLang="zh-TW" sz="1600" i="1" dirty="0" err="1">
                <a:solidFill>
                  <a:schemeClr val="tx1"/>
                </a:solidFill>
                <a:latin typeface="標楷體" panose="03000509000000000000" pitchFamily="65" charset="-120"/>
                <a:ea typeface="標楷體" panose="03000509000000000000" pitchFamily="65" charset="-120"/>
              </a:rPr>
              <a:t>Paracentrotus</a:t>
            </a:r>
            <a:r>
              <a:rPr lang="en-US" altLang="zh-TW" sz="1600" i="1" dirty="0">
                <a:solidFill>
                  <a:schemeClr val="tx1"/>
                </a:solidFill>
                <a:latin typeface="標楷體" panose="03000509000000000000" pitchFamily="65" charset="-120"/>
                <a:ea typeface="標楷體" panose="03000509000000000000" pitchFamily="65" charset="-120"/>
              </a:rPr>
              <a:t> </a:t>
            </a:r>
            <a:r>
              <a:rPr lang="en-US" altLang="zh-TW" sz="1600" i="1" dirty="0" err="1">
                <a:solidFill>
                  <a:schemeClr val="tx1"/>
                </a:solidFill>
                <a:latin typeface="標楷體" panose="03000509000000000000" pitchFamily="65" charset="-120"/>
                <a:ea typeface="標楷體" panose="03000509000000000000" pitchFamily="65" charset="-120"/>
              </a:rPr>
              <a:t>lividus</a:t>
            </a:r>
            <a:r>
              <a:rPr lang="en-US" altLang="zh-TW" sz="1600" i="1" dirty="0">
                <a:solidFill>
                  <a:schemeClr val="tx1"/>
                </a:solidFill>
                <a:latin typeface="標楷體" panose="03000509000000000000" pitchFamily="65" charset="-120"/>
                <a:ea typeface="標楷體" panose="03000509000000000000" pitchFamily="65" charset="-120"/>
              </a:rPr>
              <a:t> </a:t>
            </a:r>
            <a:r>
              <a:rPr lang="zh-TW" altLang="en-US" sz="1600" dirty="0">
                <a:solidFill>
                  <a:schemeClr val="tx1"/>
                </a:solidFill>
                <a:latin typeface="標楷體" panose="03000509000000000000" pitchFamily="65" charset="-120"/>
                <a:ea typeface="標楷體" panose="03000509000000000000" pitchFamily="65" charset="-120"/>
              </a:rPr>
              <a:t>在 </a:t>
            </a:r>
            <a:r>
              <a:rPr lang="en-US" altLang="zh-TW" sz="1600" dirty="0">
                <a:solidFill>
                  <a:schemeClr val="tx1"/>
                </a:solidFill>
                <a:latin typeface="標楷體" panose="03000509000000000000" pitchFamily="65" charset="-120"/>
                <a:ea typeface="標楷體" panose="03000509000000000000" pitchFamily="65" charset="-120"/>
              </a:rPr>
              <a:t>25°C </a:t>
            </a:r>
            <a:r>
              <a:rPr lang="zh-TW" altLang="en-US" sz="1600" dirty="0">
                <a:solidFill>
                  <a:schemeClr val="tx1"/>
                </a:solidFill>
                <a:latin typeface="標楷體" panose="03000509000000000000" pitchFamily="65" charset="-120"/>
                <a:ea typeface="標楷體" panose="03000509000000000000" pitchFamily="65" charset="-120"/>
              </a:rPr>
              <a:t>的空氣中暴露 </a:t>
            </a:r>
            <a:r>
              <a:rPr lang="en-US" altLang="zh-TW" sz="1600" dirty="0">
                <a:solidFill>
                  <a:schemeClr val="tx1"/>
                </a:solidFill>
                <a:latin typeface="標楷體" panose="03000509000000000000" pitchFamily="65" charset="-120"/>
                <a:ea typeface="標楷體" panose="03000509000000000000" pitchFamily="65" charset="-120"/>
              </a:rPr>
              <a:t>5 </a:t>
            </a:r>
            <a:r>
              <a:rPr lang="zh-TW" altLang="en-US" sz="1600" dirty="0">
                <a:solidFill>
                  <a:schemeClr val="tx1"/>
                </a:solidFill>
                <a:latin typeface="標楷體" panose="03000509000000000000" pitchFamily="65" charset="-120"/>
                <a:ea typeface="標楷體" panose="03000509000000000000" pitchFamily="65" charset="-120"/>
              </a:rPr>
              <a:t>小時後，死亡率達到 </a:t>
            </a:r>
            <a:r>
              <a:rPr lang="en-US" altLang="zh-TW" sz="1600" dirty="0">
                <a:solidFill>
                  <a:schemeClr val="tx1"/>
                </a:solidFill>
                <a:latin typeface="標楷體" panose="03000509000000000000" pitchFamily="65" charset="-120"/>
                <a:ea typeface="標楷體" panose="03000509000000000000" pitchFamily="65" charset="-120"/>
              </a:rPr>
              <a:t>100%</a:t>
            </a:r>
            <a:r>
              <a:rPr lang="zh-TW" altLang="en-US" sz="1600" dirty="0">
                <a:solidFill>
                  <a:schemeClr val="tx1"/>
                </a:solidFill>
                <a:latin typeface="標楷體" panose="03000509000000000000" pitchFamily="65" charset="-120"/>
                <a:ea typeface="標楷體" panose="03000509000000000000" pitchFamily="65" charset="-120"/>
              </a:rPr>
              <a:t>。而當空氣溫度為 </a:t>
            </a:r>
            <a:r>
              <a:rPr lang="en-US" altLang="zh-TW" sz="1600" dirty="0">
                <a:solidFill>
                  <a:schemeClr val="tx1"/>
                </a:solidFill>
                <a:latin typeface="標楷體" panose="03000509000000000000" pitchFamily="65" charset="-120"/>
                <a:ea typeface="標楷體" panose="03000509000000000000" pitchFamily="65" charset="-120"/>
              </a:rPr>
              <a:t>19°C </a:t>
            </a:r>
            <a:r>
              <a:rPr lang="zh-TW" altLang="en-US" sz="1600" dirty="0">
                <a:solidFill>
                  <a:schemeClr val="tx1"/>
                </a:solidFill>
                <a:latin typeface="標楷體" panose="03000509000000000000" pitchFamily="65" charset="-120"/>
                <a:ea typeface="標楷體" panose="03000509000000000000" pitchFamily="65" charset="-120"/>
              </a:rPr>
              <a:t>時，死亡率僅為 </a:t>
            </a:r>
            <a:r>
              <a:rPr lang="en-US" altLang="zh-TW" sz="1600" dirty="0">
                <a:solidFill>
                  <a:schemeClr val="tx1"/>
                </a:solidFill>
                <a:latin typeface="標楷體" panose="03000509000000000000" pitchFamily="65" charset="-120"/>
                <a:ea typeface="標楷體" panose="03000509000000000000" pitchFamily="65" charset="-120"/>
              </a:rPr>
              <a:t>40%</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dirty="0" err="1">
                <a:solidFill>
                  <a:schemeClr val="tx1"/>
                </a:solidFill>
                <a:latin typeface="標楷體" panose="03000509000000000000" pitchFamily="65" charset="-120"/>
                <a:ea typeface="標楷體" panose="03000509000000000000" pitchFamily="65" charset="-120"/>
              </a:rPr>
              <a:t>Arafa</a:t>
            </a:r>
            <a:r>
              <a:rPr lang="en-US" altLang="zh-TW" sz="1600" dirty="0">
                <a:solidFill>
                  <a:schemeClr val="tx1"/>
                </a:solidFill>
                <a:latin typeface="標楷體" panose="03000509000000000000" pitchFamily="65" charset="-120"/>
                <a:ea typeface="標楷體" panose="03000509000000000000" pitchFamily="65" charset="-120"/>
              </a:rPr>
              <a:t>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2007</a:t>
            </a:r>
            <a:r>
              <a:rPr lang="zh-TW" altLang="en-US" sz="1600" dirty="0">
                <a:solidFill>
                  <a:schemeClr val="tx1"/>
                </a:solidFill>
                <a:latin typeface="標楷體" panose="03000509000000000000" pitchFamily="65" charset="-120"/>
                <a:ea typeface="標楷體" panose="03000509000000000000" pitchFamily="65" charset="-120"/>
              </a:rPr>
              <a:t>）。優化乾式運輸過程中的溫度可能也有助於提高收穫後性腺的品質和保存期限（</a:t>
            </a:r>
            <a:r>
              <a:rPr lang="en-US" altLang="zh-TW" sz="1600" dirty="0" err="1">
                <a:solidFill>
                  <a:schemeClr val="tx1"/>
                </a:solidFill>
                <a:latin typeface="標楷體" panose="03000509000000000000" pitchFamily="65" charset="-120"/>
                <a:ea typeface="標楷體" panose="03000509000000000000" pitchFamily="65" charset="-120"/>
              </a:rPr>
              <a:t>Verachia</a:t>
            </a:r>
            <a:r>
              <a:rPr lang="en-US" altLang="zh-TW" sz="1600" dirty="0">
                <a:solidFill>
                  <a:schemeClr val="tx1"/>
                </a:solidFill>
                <a:latin typeface="標楷體" panose="03000509000000000000" pitchFamily="65" charset="-120"/>
                <a:ea typeface="標楷體" panose="03000509000000000000" pitchFamily="65" charset="-120"/>
              </a:rPr>
              <a:t> </a:t>
            </a:r>
            <a:r>
              <a:rPr lang="zh-TW" altLang="en-US" sz="1600" dirty="0">
                <a:solidFill>
                  <a:schemeClr val="tx1"/>
                </a:solidFill>
                <a:latin typeface="標楷體" panose="03000509000000000000" pitchFamily="65" charset="-120"/>
                <a:ea typeface="標楷體" panose="03000509000000000000" pitchFamily="65" charset="-120"/>
              </a:rPr>
              <a:t>等，</a:t>
            </a:r>
            <a:r>
              <a:rPr lang="en-US" altLang="zh-TW" sz="1600" dirty="0">
                <a:solidFill>
                  <a:schemeClr val="tx1"/>
                </a:solidFill>
                <a:latin typeface="標楷體" panose="03000509000000000000" pitchFamily="65" charset="-120"/>
                <a:ea typeface="標楷體" panose="03000509000000000000" pitchFamily="65" charset="-120"/>
              </a:rPr>
              <a:t>2013</a:t>
            </a:r>
            <a:r>
              <a:rPr lang="zh-TW" altLang="en-US" sz="1600" dirty="0">
                <a:solidFill>
                  <a:schemeClr val="tx1"/>
                </a:solidFill>
                <a:latin typeface="標楷體" panose="03000509000000000000" pitchFamily="65" charset="-120"/>
                <a:ea typeface="標楷體" panose="03000509000000000000" pitchFamily="65" charset="-120"/>
              </a:rPr>
              <a:t>）。由於目前關於海膽乾式運輸過程中溫度影響的研究較少，目前尚不清楚最佳溫度是物種特異性的，還是與廣泛的生態特徵（例如，溫帶與熱帶、潮下帶與潮間帶）相關。本研究調查了空氣溫度和暴露時間對熱帶印度洋</a:t>
            </a:r>
            <a:r>
              <a:rPr lang="en-US" altLang="zh-TW" sz="1600" dirty="0" smtClean="0">
                <a:solidFill>
                  <a:schemeClr val="tx1"/>
                </a:solidFill>
                <a:latin typeface="標楷體" panose="03000509000000000000" pitchFamily="65" charset="-120"/>
                <a:ea typeface="標楷體" panose="03000509000000000000" pitchFamily="65" charset="-120"/>
              </a:rPr>
              <a:t>-</a:t>
            </a:r>
            <a:r>
              <a:rPr lang="zh-TW" altLang="en-US" sz="1600" dirty="0">
                <a:solidFill>
                  <a:schemeClr val="tx1"/>
                </a:solidFill>
                <a:latin typeface="標楷體" panose="03000509000000000000" pitchFamily="65" charset="-120"/>
                <a:ea typeface="標楷體" panose="03000509000000000000" pitchFamily="65" charset="-120"/>
              </a:rPr>
              <a:t>白棘三列</a:t>
            </a:r>
            <a:r>
              <a:rPr lang="zh-TW" altLang="en-US" sz="1600" dirty="0" smtClean="0">
                <a:solidFill>
                  <a:schemeClr val="tx1"/>
                </a:solidFill>
                <a:latin typeface="標楷體" panose="03000509000000000000" pitchFamily="65" charset="-120"/>
                <a:ea typeface="標楷體" panose="03000509000000000000" pitchFamily="65" charset="-120"/>
              </a:rPr>
              <a:t>海膽</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i="1" dirty="0" err="1">
                <a:solidFill>
                  <a:schemeClr val="tx1"/>
                </a:solidFill>
                <a:latin typeface="標楷體" panose="03000509000000000000" pitchFamily="65" charset="-120"/>
                <a:ea typeface="標楷體" panose="03000509000000000000" pitchFamily="65" charset="-120"/>
              </a:rPr>
              <a:t>Tripneustes</a:t>
            </a:r>
            <a:r>
              <a:rPr lang="en-US" altLang="zh-TW" sz="1600" i="1" dirty="0">
                <a:solidFill>
                  <a:schemeClr val="tx1"/>
                </a:solidFill>
                <a:latin typeface="標楷體" panose="03000509000000000000" pitchFamily="65" charset="-120"/>
                <a:ea typeface="標楷體" panose="03000509000000000000" pitchFamily="65" charset="-120"/>
              </a:rPr>
              <a:t> </a:t>
            </a:r>
            <a:r>
              <a:rPr lang="en-US" altLang="zh-TW" sz="1600" i="1" dirty="0" err="1">
                <a:solidFill>
                  <a:schemeClr val="tx1"/>
                </a:solidFill>
                <a:latin typeface="標楷體" panose="03000509000000000000" pitchFamily="65" charset="-120"/>
                <a:ea typeface="標楷體" panose="03000509000000000000" pitchFamily="65" charset="-120"/>
              </a:rPr>
              <a:t>gratilla</a:t>
            </a:r>
            <a:r>
              <a:rPr lang="zh-TW" altLang="en-US" sz="1600" dirty="0">
                <a:solidFill>
                  <a:schemeClr val="tx1"/>
                </a:solidFill>
                <a:latin typeface="標楷體" panose="03000509000000000000" pitchFamily="65" charset="-120"/>
                <a:ea typeface="標楷體" panose="03000509000000000000" pitchFamily="65" charset="-120"/>
              </a:rPr>
              <a:t>）</a:t>
            </a:r>
            <a:r>
              <a:rPr lang="zh-TW" altLang="en-US" sz="1600" dirty="0" smtClean="0">
                <a:solidFill>
                  <a:schemeClr val="tx1"/>
                </a:solidFill>
                <a:latin typeface="標楷體" panose="03000509000000000000" pitchFamily="65" charset="-120"/>
                <a:ea typeface="標楷體" panose="03000509000000000000" pitchFamily="65" charset="-120"/>
              </a:rPr>
              <a:t>和紅海膽</a:t>
            </a:r>
            <a:r>
              <a:rPr lang="zh-TW" altLang="en-US" sz="1600" dirty="0">
                <a:solidFill>
                  <a:schemeClr val="tx1"/>
                </a:solidFill>
                <a:latin typeface="標楷體" panose="03000509000000000000" pitchFamily="65" charset="-120"/>
                <a:ea typeface="標楷體" panose="03000509000000000000" pitchFamily="65" charset="-120"/>
              </a:rPr>
              <a:t>（</a:t>
            </a:r>
            <a:r>
              <a:rPr lang="en-US" altLang="zh-TW" sz="1600" i="1" dirty="0" err="1">
                <a:solidFill>
                  <a:schemeClr val="tx1"/>
                </a:solidFill>
                <a:latin typeface="標楷體" panose="03000509000000000000" pitchFamily="65" charset="-120"/>
                <a:ea typeface="標楷體" panose="03000509000000000000" pitchFamily="65" charset="-120"/>
              </a:rPr>
              <a:t>Heliocidaris</a:t>
            </a:r>
            <a:r>
              <a:rPr lang="en-US" altLang="zh-TW" sz="1600" i="1" dirty="0">
                <a:solidFill>
                  <a:schemeClr val="tx1"/>
                </a:solidFill>
                <a:latin typeface="標楷體" panose="03000509000000000000" pitchFamily="65" charset="-120"/>
                <a:ea typeface="標楷體" panose="03000509000000000000" pitchFamily="65" charset="-120"/>
              </a:rPr>
              <a:t> </a:t>
            </a:r>
            <a:r>
              <a:rPr lang="en-US" altLang="zh-TW" sz="1600" i="1" dirty="0" err="1">
                <a:solidFill>
                  <a:schemeClr val="tx1"/>
                </a:solidFill>
                <a:latin typeface="標楷體" panose="03000509000000000000" pitchFamily="65" charset="-120"/>
                <a:ea typeface="標楷體" panose="03000509000000000000" pitchFamily="65" charset="-120"/>
              </a:rPr>
              <a:t>erythrogramma</a:t>
            </a:r>
            <a:r>
              <a:rPr lang="zh-TW" altLang="en-US" sz="1600" dirty="0">
                <a:solidFill>
                  <a:schemeClr val="tx1"/>
                </a:solidFill>
                <a:latin typeface="標楷體" panose="03000509000000000000" pitchFamily="65" charset="-120"/>
                <a:ea typeface="標楷體" panose="03000509000000000000" pitchFamily="65" charset="-120"/>
              </a:rPr>
              <a:t>）的影響。</a:t>
            </a:r>
          </a:p>
        </p:txBody>
      </p:sp>
    </p:spTree>
    <p:extLst>
      <p:ext uri="{BB962C8B-B14F-4D97-AF65-F5344CB8AC3E}">
        <p14:creationId xmlns:p14="http://schemas.microsoft.com/office/powerpoint/2010/main" val="3353073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56821" y="359067"/>
            <a:ext cx="9254518" cy="4239438"/>
          </a:xfrm>
        </p:spPr>
        <p:txBody>
          <a:bodyPr>
            <a:normAutofit/>
          </a:bodyPr>
          <a:lstStyle/>
          <a:p>
            <a:r>
              <a:rPr lang="zh-TW" altLang="en-US" sz="2000" dirty="0">
                <a:solidFill>
                  <a:schemeClr val="tx1"/>
                </a:solidFill>
                <a:latin typeface="標楷體" panose="03000509000000000000" pitchFamily="65" charset="-120"/>
                <a:ea typeface="標楷體" panose="03000509000000000000" pitchFamily="65" charset="-120"/>
              </a:rPr>
              <a:t>為了獲得印度洋</a:t>
            </a:r>
            <a:r>
              <a:rPr lang="en-US" altLang="zh-TW" sz="2000" dirty="0">
                <a:solidFill>
                  <a:schemeClr val="tx1"/>
                </a:solidFill>
                <a:latin typeface="標楷體" panose="03000509000000000000" pitchFamily="65" charset="-120"/>
                <a:ea typeface="標楷體" panose="03000509000000000000" pitchFamily="65" charset="-120"/>
              </a:rPr>
              <a:t>-</a:t>
            </a:r>
            <a:r>
              <a:rPr lang="zh-TW" altLang="en-US" sz="2000" dirty="0">
                <a:solidFill>
                  <a:schemeClr val="tx1"/>
                </a:solidFill>
                <a:latin typeface="標楷體" panose="03000509000000000000" pitchFamily="65" charset="-120"/>
                <a:ea typeface="標楷體" panose="03000509000000000000" pitchFamily="65" charset="-120"/>
              </a:rPr>
              <a:t>太平洋地區運輸海膽所經歷的</a:t>
            </a:r>
            <a:r>
              <a:rPr lang="zh-TW" altLang="en-US" sz="2000" dirty="0" smtClean="0">
                <a:solidFill>
                  <a:schemeClr val="tx1"/>
                </a:solidFill>
                <a:latin typeface="標楷體" panose="03000509000000000000" pitchFamily="65" charset="-120"/>
                <a:ea typeface="標楷體" panose="03000509000000000000" pitchFamily="65" charset="-120"/>
              </a:rPr>
              <a:t>溫度數據，</a:t>
            </a:r>
            <a:r>
              <a:rPr lang="zh-TW" altLang="en-US" sz="2000" dirty="0">
                <a:solidFill>
                  <a:schemeClr val="tx1"/>
                </a:solidFill>
                <a:latin typeface="標楷體" panose="03000509000000000000" pitchFamily="65" charset="-120"/>
                <a:ea typeface="標楷體" panose="03000509000000000000" pitchFamily="65" charset="-120"/>
              </a:rPr>
              <a:t>研究人員使用溫度記錄儀記錄了採用濕式</a:t>
            </a:r>
            <a:r>
              <a:rPr lang="zh-TW" altLang="en-US" sz="2000" dirty="0" smtClean="0">
                <a:solidFill>
                  <a:schemeClr val="tx1"/>
                </a:solidFill>
                <a:latin typeface="標楷體" panose="03000509000000000000" pitchFamily="65" charset="-120"/>
                <a:ea typeface="標楷體" panose="03000509000000000000" pitchFamily="65" charset="-120"/>
              </a:rPr>
              <a:t>（含海水）</a:t>
            </a:r>
            <a:r>
              <a:rPr lang="zh-TW" altLang="en-US" sz="2000" dirty="0">
                <a:solidFill>
                  <a:schemeClr val="tx1"/>
                </a:solidFill>
                <a:latin typeface="標楷體" panose="03000509000000000000" pitchFamily="65" charset="-120"/>
                <a:ea typeface="標楷體" panose="03000509000000000000" pitchFamily="65" charset="-120"/>
              </a:rPr>
              <a:t>和乾式（不含海水）運輸方式包裝的 </a:t>
            </a:r>
            <a:r>
              <a:rPr lang="en-US" altLang="zh-TW" sz="2000" i="1" dirty="0">
                <a:solidFill>
                  <a:schemeClr val="tx1"/>
                </a:solidFill>
                <a:latin typeface="標楷體" panose="03000509000000000000" pitchFamily="65" charset="-120"/>
                <a:ea typeface="標楷體" panose="03000509000000000000" pitchFamily="65" charset="-120"/>
              </a:rPr>
              <a:t>T. </a:t>
            </a:r>
            <a:r>
              <a:rPr lang="en-US" altLang="zh-TW" sz="2000" i="1" dirty="0" err="1">
                <a:solidFill>
                  <a:schemeClr val="tx1"/>
                </a:solidFill>
                <a:latin typeface="標楷體" panose="03000509000000000000" pitchFamily="65" charset="-120"/>
                <a:ea typeface="標楷體" panose="03000509000000000000" pitchFamily="65" charset="-120"/>
              </a:rPr>
              <a:t>gratilla</a:t>
            </a:r>
            <a:r>
              <a:rPr lang="en-US" altLang="zh-TW" sz="2000" i="1"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所經歷的溫度。為了研究空氣溫度和空氣暴露時間如何相互作用以影響海膽的穩健性，</a:t>
            </a:r>
            <a:r>
              <a:rPr lang="zh-TW" altLang="en-US" sz="2000" dirty="0" smtClean="0">
                <a:solidFill>
                  <a:schemeClr val="tx1"/>
                </a:solidFill>
                <a:latin typeface="標楷體" panose="03000509000000000000" pitchFamily="65" charset="-120"/>
                <a:ea typeface="標楷體" panose="03000509000000000000" pitchFamily="65" charset="-120"/>
              </a:rPr>
              <a:t>研究人員紀錄 </a:t>
            </a:r>
            <a:r>
              <a:rPr lang="en-US" altLang="zh-TW" sz="2000" i="1" dirty="0">
                <a:solidFill>
                  <a:schemeClr val="tx1"/>
                </a:solidFill>
                <a:latin typeface="標楷體" panose="03000509000000000000" pitchFamily="65" charset="-120"/>
                <a:ea typeface="標楷體" panose="03000509000000000000" pitchFamily="65" charset="-120"/>
              </a:rPr>
              <a:t>T. </a:t>
            </a:r>
            <a:r>
              <a:rPr lang="en-US" altLang="zh-TW" sz="2000" i="1" dirty="0" err="1">
                <a:solidFill>
                  <a:schemeClr val="tx1"/>
                </a:solidFill>
                <a:latin typeface="標楷體" panose="03000509000000000000" pitchFamily="65" charset="-120"/>
                <a:ea typeface="標楷體" panose="03000509000000000000" pitchFamily="65" charset="-120"/>
              </a:rPr>
              <a:t>gratilla</a:t>
            </a:r>
            <a:r>
              <a:rPr lang="en-US" altLang="zh-TW" sz="2000" i="1"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和 </a:t>
            </a:r>
            <a:r>
              <a:rPr lang="en-US" altLang="zh-TW" sz="2000" i="1" dirty="0">
                <a:solidFill>
                  <a:schemeClr val="tx1"/>
                </a:solidFill>
                <a:latin typeface="標楷體" panose="03000509000000000000" pitchFamily="65" charset="-120"/>
                <a:ea typeface="標楷體" panose="03000509000000000000" pitchFamily="65" charset="-120"/>
              </a:rPr>
              <a:t>H. </a:t>
            </a:r>
            <a:r>
              <a:rPr lang="en-US" altLang="zh-TW" sz="2000" i="1" dirty="0" err="1">
                <a:solidFill>
                  <a:schemeClr val="tx1"/>
                </a:solidFill>
                <a:latin typeface="標楷體" panose="03000509000000000000" pitchFamily="65" charset="-120"/>
                <a:ea typeface="標楷體" panose="03000509000000000000" pitchFamily="65" charset="-120"/>
              </a:rPr>
              <a:t>erythrogramma</a:t>
            </a:r>
            <a:r>
              <a:rPr lang="en-US" altLang="zh-TW" sz="2000" i="1"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置於空氣暴露時間（</a:t>
            </a:r>
            <a:r>
              <a:rPr lang="en-US" altLang="zh-TW" sz="2000" dirty="0">
                <a:solidFill>
                  <a:schemeClr val="tx1"/>
                </a:solidFill>
                <a:latin typeface="標楷體" panose="03000509000000000000" pitchFamily="65" charset="-120"/>
                <a:ea typeface="標楷體" panose="03000509000000000000" pitchFamily="65" charset="-120"/>
              </a:rPr>
              <a:t>6</a:t>
            </a:r>
            <a:r>
              <a:rPr lang="zh-TW" altLang="en-US" sz="2000" dirty="0">
                <a:solidFill>
                  <a:schemeClr val="tx1"/>
                </a:solidFill>
                <a:latin typeface="標楷體" panose="03000509000000000000" pitchFamily="65" charset="-120"/>
                <a:ea typeface="標楷體" panose="03000509000000000000" pitchFamily="65" charset="-120"/>
              </a:rPr>
              <a:t>、</a:t>
            </a:r>
            <a:r>
              <a:rPr lang="en-US" altLang="zh-TW" sz="2000" dirty="0">
                <a:solidFill>
                  <a:schemeClr val="tx1"/>
                </a:solidFill>
                <a:latin typeface="標楷體" panose="03000509000000000000" pitchFamily="65" charset="-120"/>
                <a:ea typeface="標楷體" panose="03000509000000000000" pitchFamily="65" charset="-120"/>
              </a:rPr>
              <a:t>12</a:t>
            </a:r>
            <a:r>
              <a:rPr lang="zh-TW" altLang="en-US" sz="2000" dirty="0">
                <a:solidFill>
                  <a:schemeClr val="tx1"/>
                </a:solidFill>
                <a:latin typeface="標楷體" panose="03000509000000000000" pitchFamily="65" charset="-120"/>
                <a:ea typeface="標楷體" panose="03000509000000000000" pitchFamily="65" charset="-120"/>
              </a:rPr>
              <a:t>、</a:t>
            </a:r>
            <a:r>
              <a:rPr lang="en-US" altLang="zh-TW" sz="2000" dirty="0">
                <a:solidFill>
                  <a:schemeClr val="tx1"/>
                </a:solidFill>
                <a:latin typeface="標楷體" panose="03000509000000000000" pitchFamily="65" charset="-120"/>
                <a:ea typeface="標楷體" panose="03000509000000000000" pitchFamily="65" charset="-120"/>
              </a:rPr>
              <a:t>24 </a:t>
            </a:r>
            <a:r>
              <a:rPr lang="zh-TW" altLang="en-US" sz="2000" dirty="0">
                <a:solidFill>
                  <a:schemeClr val="tx1"/>
                </a:solidFill>
                <a:latin typeface="標楷體" panose="03000509000000000000" pitchFamily="65" charset="-120"/>
                <a:ea typeface="標楷體" panose="03000509000000000000" pitchFamily="65" charset="-120"/>
              </a:rPr>
              <a:t>或 </a:t>
            </a:r>
            <a:r>
              <a:rPr lang="en-US" altLang="zh-TW" sz="2000" dirty="0">
                <a:solidFill>
                  <a:schemeClr val="tx1"/>
                </a:solidFill>
                <a:latin typeface="標楷體" panose="03000509000000000000" pitchFamily="65" charset="-120"/>
                <a:ea typeface="標楷體" panose="03000509000000000000" pitchFamily="65" charset="-120"/>
              </a:rPr>
              <a:t>48 </a:t>
            </a:r>
            <a:r>
              <a:rPr lang="zh-TW" altLang="en-US" sz="2000" dirty="0">
                <a:solidFill>
                  <a:schemeClr val="tx1"/>
                </a:solidFill>
                <a:latin typeface="標楷體" panose="03000509000000000000" pitchFamily="65" charset="-120"/>
                <a:ea typeface="標楷體" panose="03000509000000000000" pitchFamily="65" charset="-120"/>
              </a:rPr>
              <a:t>小時）和三種空氣溫度</a:t>
            </a:r>
            <a:r>
              <a:rPr lang="zh-TW" altLang="en-US" sz="2000" dirty="0" smtClean="0">
                <a:solidFill>
                  <a:schemeClr val="tx1"/>
                </a:solidFill>
                <a:latin typeface="標楷體" panose="03000509000000000000" pitchFamily="65" charset="-120"/>
                <a:ea typeface="標楷體" panose="03000509000000000000" pitchFamily="65" charset="-120"/>
              </a:rPr>
              <a:t>（</a:t>
            </a:r>
            <a:r>
              <a:rPr lang="zh-TW" altLang="en-US" sz="2000" dirty="0">
                <a:solidFill>
                  <a:schemeClr val="tx1"/>
                </a:solidFill>
                <a:latin typeface="標楷體" panose="03000509000000000000" pitchFamily="65" charset="-120"/>
                <a:ea typeface="標楷體" panose="03000509000000000000" pitchFamily="65" charset="-120"/>
              </a:rPr>
              <a:t>環境”</a:t>
            </a:r>
            <a:r>
              <a:rPr lang="en-US" altLang="zh-TW" sz="2000" dirty="0">
                <a:solidFill>
                  <a:schemeClr val="tx1"/>
                </a:solidFill>
                <a:latin typeface="標楷體" panose="03000509000000000000" pitchFamily="65" charset="-120"/>
                <a:ea typeface="標楷體" panose="03000509000000000000" pitchFamily="65" charset="-120"/>
              </a:rPr>
              <a:t>27 °C</a:t>
            </a:r>
            <a:r>
              <a:rPr lang="zh-TW" altLang="en-US" sz="2000" dirty="0">
                <a:solidFill>
                  <a:schemeClr val="tx1"/>
                </a:solidFill>
                <a:latin typeface="標楷體" panose="03000509000000000000" pitchFamily="65" charset="-120"/>
                <a:ea typeface="標楷體" panose="03000509000000000000" pitchFamily="65" charset="-120"/>
              </a:rPr>
              <a:t>冷藏</a:t>
            </a:r>
            <a:r>
              <a:rPr lang="en-US" altLang="zh-TW" sz="2000" dirty="0">
                <a:solidFill>
                  <a:schemeClr val="tx1"/>
                </a:solidFill>
                <a:latin typeface="標楷體" panose="03000509000000000000" pitchFamily="65" charset="-120"/>
                <a:ea typeface="標楷體" panose="03000509000000000000" pitchFamily="65" charset="-120"/>
              </a:rPr>
              <a:t>12 °C</a:t>
            </a:r>
            <a:r>
              <a:rPr lang="zh-TW" altLang="en-US" sz="2000" dirty="0">
                <a:solidFill>
                  <a:schemeClr val="tx1"/>
                </a:solidFill>
                <a:latin typeface="標楷體" panose="03000509000000000000" pitchFamily="65" charset="-120"/>
                <a:ea typeface="標楷體" panose="03000509000000000000" pitchFamily="65" charset="-120"/>
              </a:rPr>
              <a:t>冷藏</a:t>
            </a:r>
            <a:r>
              <a:rPr lang="en-US" altLang="zh-TW" sz="2000" dirty="0">
                <a:solidFill>
                  <a:schemeClr val="tx1"/>
                </a:solidFill>
                <a:latin typeface="標楷體" panose="03000509000000000000" pitchFamily="65" charset="-120"/>
                <a:ea typeface="標楷體" panose="03000509000000000000" pitchFamily="65" charset="-120"/>
              </a:rPr>
              <a:t>4 °C </a:t>
            </a:r>
            <a:r>
              <a:rPr lang="zh-TW" altLang="en-US" sz="2000" dirty="0" smtClean="0">
                <a:solidFill>
                  <a:schemeClr val="tx1"/>
                </a:solidFill>
                <a:latin typeface="標楷體" panose="03000509000000000000" pitchFamily="65" charset="-120"/>
                <a:ea typeface="標楷體" panose="03000509000000000000" pitchFamily="65" charset="-120"/>
              </a:rPr>
              <a:t>）</a:t>
            </a:r>
            <a:r>
              <a:rPr lang="zh-TW" altLang="en-US" sz="2000" dirty="0">
                <a:solidFill>
                  <a:schemeClr val="tx1"/>
                </a:solidFill>
                <a:latin typeface="標楷體" panose="03000509000000000000" pitchFamily="65" charset="-120"/>
                <a:ea typeface="標楷體" panose="03000509000000000000" pitchFamily="65" charset="-120"/>
              </a:rPr>
              <a:t>的所有</a:t>
            </a:r>
            <a:r>
              <a:rPr lang="zh-TW" altLang="en-US" sz="2000" dirty="0" smtClean="0">
                <a:solidFill>
                  <a:schemeClr val="tx1"/>
                </a:solidFill>
                <a:latin typeface="標楷體" panose="03000509000000000000" pitchFamily="65" charset="-120"/>
                <a:ea typeface="標楷體" panose="03000509000000000000" pitchFamily="65" charset="-120"/>
              </a:rPr>
              <a:t>組合。</a:t>
            </a:r>
            <a:endParaRPr lang="zh-TW" altLang="en-US" sz="2000" dirty="0">
              <a:solidFill>
                <a:schemeClr val="tx1"/>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1956821" y="2165978"/>
            <a:ext cx="8915400" cy="4407100"/>
          </a:xfrm>
        </p:spPr>
        <p:txBody>
          <a:bodyPr>
            <a:noAutofit/>
          </a:bodyPr>
          <a:lstStyle/>
          <a:p>
            <a:pPr marL="0" indent="0">
              <a:buNone/>
            </a:pPr>
            <a:r>
              <a:rPr lang="zh-TW" altLang="en-US" sz="2000" dirty="0">
                <a:latin typeface="標楷體" panose="03000509000000000000" pitchFamily="65" charset="-120"/>
                <a:ea typeface="標楷體" panose="03000509000000000000" pitchFamily="65" charset="-120"/>
              </a:rPr>
              <a:t>過去研究海膽對乾式運輸耐受性的研究測量了死亡率和對性腺指數的影響（</a:t>
            </a:r>
            <a:r>
              <a:rPr lang="en-US" altLang="zh-TW" sz="2000" dirty="0" err="1">
                <a:latin typeface="標楷體" panose="03000509000000000000" pitchFamily="65" charset="-120"/>
                <a:ea typeface="標楷體" panose="03000509000000000000" pitchFamily="65" charset="-120"/>
              </a:rPr>
              <a:t>Arafa</a:t>
            </a:r>
            <a:r>
              <a:rPr lang="en-US" altLang="zh-TW" sz="2000" dirty="0">
                <a:latin typeface="標楷體" panose="03000509000000000000" pitchFamily="65" charset="-120"/>
                <a:ea typeface="標楷體" panose="03000509000000000000" pitchFamily="65" charset="-120"/>
              </a:rPr>
              <a:t> et al., 2007; </a:t>
            </a:r>
            <a:r>
              <a:rPr lang="en-US" altLang="zh-TW" sz="2000" dirty="0" err="1">
                <a:latin typeface="標楷體" panose="03000509000000000000" pitchFamily="65" charset="-120"/>
                <a:ea typeface="標楷體" panose="03000509000000000000" pitchFamily="65" charset="-120"/>
              </a:rPr>
              <a:t>Arafa</a:t>
            </a:r>
            <a:r>
              <a:rPr lang="en-US" altLang="zh-TW" sz="2000" dirty="0">
                <a:latin typeface="標楷體" panose="03000509000000000000" pitchFamily="65" charset="-120"/>
                <a:ea typeface="標楷體" panose="03000509000000000000" pitchFamily="65" charset="-120"/>
              </a:rPr>
              <a:t> et al., 2010; Dale et al., 2005; James and </a:t>
            </a:r>
            <a:r>
              <a:rPr lang="en-US" altLang="zh-TW" sz="2000" dirty="0" err="1">
                <a:latin typeface="標楷體" panose="03000509000000000000" pitchFamily="65" charset="-120"/>
                <a:ea typeface="標楷體" panose="03000509000000000000" pitchFamily="65" charset="-120"/>
              </a:rPr>
              <a:t>Evensen</a:t>
            </a:r>
            <a:r>
              <a:rPr lang="en-US" altLang="zh-TW" sz="2000" dirty="0">
                <a:latin typeface="標楷體" panose="03000509000000000000" pitchFamily="65" charset="-120"/>
                <a:ea typeface="標楷體" panose="03000509000000000000" pitchFamily="65" charset="-120"/>
              </a:rPr>
              <a:t>, 2022; Kramer and </a:t>
            </a:r>
            <a:r>
              <a:rPr lang="en-US" altLang="zh-TW" sz="2000" dirty="0" err="1">
                <a:latin typeface="標楷體" panose="03000509000000000000" pitchFamily="65" charset="-120"/>
                <a:ea typeface="標楷體" panose="03000509000000000000" pitchFamily="65" charset="-120"/>
              </a:rPr>
              <a:t>Nordin</a:t>
            </a:r>
            <a:r>
              <a:rPr lang="en-US" altLang="zh-TW" sz="2000" dirty="0">
                <a:latin typeface="標楷體" panose="03000509000000000000" pitchFamily="65" charset="-120"/>
                <a:ea typeface="標楷體" panose="03000509000000000000" pitchFamily="65" charset="-120"/>
              </a:rPr>
              <a:t>, 1979; James and </a:t>
            </a:r>
            <a:r>
              <a:rPr lang="en-US" altLang="zh-TW" sz="2000" dirty="0" err="1">
                <a:latin typeface="標楷體" panose="03000509000000000000" pitchFamily="65" charset="-120"/>
                <a:ea typeface="標楷體" panose="03000509000000000000" pitchFamily="65" charset="-120"/>
              </a:rPr>
              <a:t>Evensen</a:t>
            </a:r>
            <a:r>
              <a:rPr lang="en-US" altLang="zh-TW" sz="2000" dirty="0">
                <a:latin typeface="標楷體" panose="03000509000000000000" pitchFamily="65" charset="-120"/>
                <a:ea typeface="標楷體" panose="03000509000000000000" pitchFamily="65" charset="-120"/>
              </a:rPr>
              <a:t>, 2022; Kramer and </a:t>
            </a:r>
            <a:r>
              <a:rPr lang="en-US" altLang="zh-TW" sz="2000" dirty="0" err="1">
                <a:latin typeface="標楷體" panose="03000509000000000000" pitchFamily="65" charset="-120"/>
                <a:ea typeface="標楷體" panose="03000509000000000000" pitchFamily="65" charset="-120"/>
              </a:rPr>
              <a:t>Nordin</a:t>
            </a:r>
            <a:r>
              <a:rPr lang="en-US" altLang="zh-TW" sz="2000" dirty="0">
                <a:latin typeface="標楷體" panose="03000509000000000000" pitchFamily="65" charset="-120"/>
                <a:ea typeface="標楷體" panose="03000509000000000000" pitchFamily="65" charset="-120"/>
              </a:rPr>
              <a:t>, 1979; 1979; .</a:t>
            </a:r>
            <a:r>
              <a:rPr lang="zh-TW" altLang="en-US" sz="2000" dirty="0">
                <a:latin typeface="標楷體" panose="03000509000000000000" pitchFamily="65" charset="-120"/>
                <a:ea typeface="標楷體" panose="03000509000000000000" pitchFamily="65" charset="-120"/>
              </a:rPr>
              <a:t>在本研究中，除了測量暴露後 </a:t>
            </a:r>
            <a:r>
              <a:rPr lang="en-US" altLang="zh-TW" sz="2000" dirty="0">
                <a:latin typeface="標楷體" panose="03000509000000000000" pitchFamily="65" charset="-120"/>
                <a:ea typeface="標楷體" panose="03000509000000000000" pitchFamily="65" charset="-120"/>
              </a:rPr>
              <a:t>15 </a:t>
            </a:r>
            <a:r>
              <a:rPr lang="zh-TW" altLang="en-US" sz="2000" dirty="0">
                <a:latin typeface="標楷體" panose="03000509000000000000" pitchFamily="65" charset="-120"/>
                <a:ea typeface="標楷體" panose="03000509000000000000" pitchFamily="65" charset="-120"/>
              </a:rPr>
              <a:t>天內的死亡率外，我們還監測了海膽在離水狀態下的體重損失，並採用已建立的方案（</a:t>
            </a:r>
            <a:r>
              <a:rPr lang="en-US" altLang="zh-TW" sz="2000" dirty="0">
                <a:latin typeface="標楷體" panose="03000509000000000000" pitchFamily="65" charset="-120"/>
                <a:ea typeface="標楷體" panose="03000509000000000000" pitchFamily="65" charset="-120"/>
              </a:rPr>
              <a:t>Brothers and McClintock, 2015</a:t>
            </a:r>
            <a:r>
              <a:rPr lang="zh-TW" altLang="en-US" sz="2000" dirty="0">
                <a:latin typeface="標楷體" panose="03000509000000000000" pitchFamily="65" charset="-120"/>
                <a:ea typeface="標楷體" panose="03000509000000000000" pitchFamily="65" charset="-120"/>
              </a:rPr>
              <a:t>）研究了空氣暴露</a:t>
            </a:r>
            <a:r>
              <a:rPr lang="zh-TW" altLang="en-US" sz="2000" dirty="0" smtClean="0">
                <a:latin typeface="標楷體" panose="03000509000000000000" pitchFamily="65" charset="-120"/>
                <a:ea typeface="標楷體" panose="03000509000000000000" pitchFamily="65" charset="-120"/>
              </a:rPr>
              <a:t>的瀕死狀態，</a:t>
            </a:r>
            <a:r>
              <a:rPr lang="zh-TW" altLang="en-US" sz="2000" dirty="0">
                <a:latin typeface="標楷體" panose="03000509000000000000" pitchFamily="65" charset="-120"/>
                <a:ea typeface="標楷體" panose="03000509000000000000" pitchFamily="65" charset="-120"/>
              </a:rPr>
              <a:t>該方案用於監測海膽在壓力暴露後的健康狀況、翻正能力（</a:t>
            </a:r>
            <a:r>
              <a:rPr lang="en-US" altLang="zh-TW" sz="2000" dirty="0">
                <a:latin typeface="標楷體" panose="03000509000000000000" pitchFamily="65" charset="-120"/>
                <a:ea typeface="標楷體" panose="03000509000000000000" pitchFamily="65" charset="-120"/>
              </a:rPr>
              <a:t>Brothers and </a:t>
            </a:r>
            <a:r>
              <a:rPr lang="en-US" altLang="zh-TW" sz="2000" dirty="0" err="1">
                <a:latin typeface="標楷體" panose="03000509000000000000" pitchFamily="65" charset="-120"/>
                <a:ea typeface="標楷體" panose="03000509000000000000" pitchFamily="65" charset="-120"/>
              </a:rPr>
              <a:t>McClint</a:t>
            </a:r>
            <a:r>
              <a:rPr lang="en-US" altLang="zh-TW" sz="2000" dirty="0">
                <a:latin typeface="標楷體" panose="03000509000000000000" pitchFamily="65" charset="-120"/>
                <a:ea typeface="標楷體" panose="03000509000000000000" pitchFamily="65" charset="-120"/>
              </a:rPr>
              <a:t>, 2015</a:t>
            </a:r>
            <a:r>
              <a:rPr lang="zh-TW" altLang="en-US" sz="2000" dirty="0">
                <a:latin typeface="標楷體" panose="03000509000000000000" pitchFamily="65" charset="-120"/>
                <a:ea typeface="標楷體" panose="03000509000000000000" pitchFamily="65" charset="-120"/>
              </a:rPr>
              <a:t>）。我們也測試了包裝方式是否會影響</a:t>
            </a:r>
            <a:r>
              <a:rPr lang="en-US" altLang="zh-TW" sz="2000" dirty="0">
                <a:latin typeface="標楷體" panose="03000509000000000000" pitchFamily="65" charset="-120"/>
                <a:ea typeface="標楷體" panose="03000509000000000000" pitchFamily="65" charset="-120"/>
              </a:rPr>
              <a:t>T. </a:t>
            </a:r>
            <a:r>
              <a:rPr lang="en-US" altLang="zh-TW" sz="2000" dirty="0" err="1">
                <a:latin typeface="標楷體" panose="03000509000000000000" pitchFamily="65" charset="-120"/>
                <a:ea typeface="標楷體" panose="03000509000000000000" pitchFamily="65" charset="-120"/>
              </a:rPr>
              <a:t>gratilla</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的</a:t>
            </a:r>
            <a:r>
              <a:rPr lang="en-US" altLang="zh-TW" sz="2000" dirty="0">
                <a:latin typeface="標楷體" panose="03000509000000000000" pitchFamily="65" charset="-120"/>
                <a:ea typeface="標楷體" panose="03000509000000000000" pitchFamily="65" charset="-120"/>
              </a:rPr>
              <a:t>15</a:t>
            </a:r>
            <a:r>
              <a:rPr lang="zh-TW" altLang="en-US" sz="2000" dirty="0">
                <a:latin typeface="標楷體" panose="03000509000000000000" pitchFamily="65" charset="-120"/>
                <a:ea typeface="標楷體" panose="03000509000000000000" pitchFamily="65" charset="-120"/>
              </a:rPr>
              <a:t>天內死亡率、濕重變化和翻正能力</a:t>
            </a:r>
            <a:r>
              <a:rPr lang="zh-TW" altLang="en-US" sz="2000" dirty="0" smtClean="0">
                <a:latin typeface="標楷體" panose="03000509000000000000" pitchFamily="65" charset="-120"/>
                <a:ea typeface="標楷體" panose="03000509000000000000" pitchFamily="65" charset="-120"/>
              </a:rPr>
              <a:t>。</a:t>
            </a:r>
            <a:endParaRPr lang="en-US" altLang="zh-TW" sz="2000" dirty="0" smtClean="0">
              <a:latin typeface="標楷體" panose="03000509000000000000" pitchFamily="65" charset="-120"/>
              <a:ea typeface="標楷體" panose="03000509000000000000" pitchFamily="65" charset="-120"/>
            </a:endParaRPr>
          </a:p>
          <a:p>
            <a:pPr marL="0" indent="0">
              <a:buNone/>
            </a:pPr>
            <a:endParaRPr lang="en-US" altLang="zh-TW" sz="2000" dirty="0">
              <a:latin typeface="標楷體" panose="03000509000000000000" pitchFamily="65" charset="-120"/>
              <a:ea typeface="標楷體" panose="03000509000000000000" pitchFamily="65" charset="-120"/>
            </a:endParaRPr>
          </a:p>
          <a:p>
            <a:pPr marL="0" indent="0">
              <a:buNone/>
            </a:pPr>
            <a:r>
              <a:rPr lang="zh-TW" altLang="en-US" sz="2000" dirty="0" smtClean="0">
                <a:latin typeface="標楷體" panose="03000509000000000000" pitchFamily="65" charset="-120"/>
                <a:ea typeface="標楷體" panose="03000509000000000000" pitchFamily="65" charset="-120"/>
              </a:rPr>
              <a:t>在另個實驗</a:t>
            </a:r>
            <a:r>
              <a:rPr lang="zh-TW" altLang="en-US" sz="2000" dirty="0">
                <a:latin typeface="標楷體" panose="03000509000000000000" pitchFamily="65" charset="-120"/>
                <a:ea typeface="標楷體" panose="03000509000000000000" pitchFamily="65" charset="-120"/>
              </a:rPr>
              <a:t>中，將海膽從水中取出，在約</a:t>
            </a:r>
            <a:r>
              <a:rPr lang="en-US" altLang="zh-TW" sz="2000" dirty="0">
                <a:latin typeface="標楷體" panose="03000509000000000000" pitchFamily="65" charset="-120"/>
                <a:ea typeface="標楷體" panose="03000509000000000000" pitchFamily="65" charset="-120"/>
              </a:rPr>
              <a:t>28℃</a:t>
            </a:r>
            <a:r>
              <a:rPr lang="zh-TW" altLang="en-US" sz="2000" dirty="0">
                <a:latin typeface="標楷體" panose="03000509000000000000" pitchFamily="65" charset="-120"/>
                <a:ea typeface="標楷體" panose="03000509000000000000" pitchFamily="65" charset="-120"/>
              </a:rPr>
              <a:t>的空氣溫度下放置</a:t>
            </a:r>
            <a:r>
              <a:rPr lang="en-US" altLang="zh-TW" sz="2000" dirty="0">
                <a:latin typeface="標楷體" panose="03000509000000000000" pitchFamily="65" charset="-120"/>
                <a:ea typeface="標楷體" panose="03000509000000000000" pitchFamily="65" charset="-120"/>
              </a:rPr>
              <a:t>12</a:t>
            </a:r>
            <a:r>
              <a:rPr lang="zh-TW" altLang="en-US" sz="2000" dirty="0">
                <a:latin typeface="標楷體" panose="03000509000000000000" pitchFamily="65" charset="-120"/>
                <a:ea typeface="標楷體" panose="03000509000000000000" pitchFamily="65" charset="-120"/>
              </a:rPr>
              <a:t>小時，分別置於帶蓋容器（密封組）或不帶蓋容器（開放組）中。在不帶蓋容器中，海膽釋放的液體會被排出（排出組），或讓其積聚</a:t>
            </a:r>
            <a:r>
              <a:rPr lang="zh-TW" altLang="en-US" sz="2000" dirty="0" smtClean="0">
                <a:latin typeface="標楷體" panose="03000509000000000000" pitchFamily="65" charset="-120"/>
                <a:ea typeface="標楷體" panose="03000509000000000000" pitchFamily="65" charset="-120"/>
              </a:rPr>
              <a:t>在容器底部</a:t>
            </a:r>
            <a:r>
              <a:rPr lang="zh-TW" altLang="en-US" sz="2000" dirty="0">
                <a:latin typeface="標楷體" panose="03000509000000000000" pitchFamily="65" charset="-120"/>
                <a:ea typeface="標楷體" panose="03000509000000000000" pitchFamily="65" charset="-120"/>
              </a:rPr>
              <a:t>（不排出組）。</a:t>
            </a:r>
          </a:p>
        </p:txBody>
      </p:sp>
    </p:spTree>
    <p:extLst>
      <p:ext uri="{BB962C8B-B14F-4D97-AF65-F5344CB8AC3E}">
        <p14:creationId xmlns:p14="http://schemas.microsoft.com/office/powerpoint/2010/main" val="29019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sz="2800" dirty="0"/>
              <a:t>空氣溫度和暴露時間對死亡率、濕重和翻正能力的影響</a:t>
            </a:r>
          </a:p>
        </p:txBody>
      </p:sp>
      <p:sp>
        <p:nvSpPr>
          <p:cNvPr id="3" name="內容版面配置區 2"/>
          <p:cNvSpPr>
            <a:spLocks noGrp="1"/>
          </p:cNvSpPr>
          <p:nvPr>
            <p:ph idx="1"/>
          </p:nvPr>
        </p:nvSpPr>
        <p:spPr/>
        <p:txBody>
          <a:bodyPr>
            <a:normAutofit fontScale="92500" lnSpcReduction="10000"/>
          </a:bodyPr>
          <a:lstStyle/>
          <a:p>
            <a:r>
              <a:rPr lang="zh-TW" altLang="en-US" dirty="0">
                <a:latin typeface="標楷體" panose="03000509000000000000" pitchFamily="65" charset="-120"/>
                <a:ea typeface="標楷體" panose="03000509000000000000" pitchFamily="65" charset="-120"/>
              </a:rPr>
              <a:t>分別對 </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和 </a:t>
            </a:r>
            <a:r>
              <a:rPr lang="en-US" altLang="zh-TW" i="1" dirty="0">
                <a:latin typeface="標楷體" panose="03000509000000000000" pitchFamily="65" charset="-120"/>
                <a:ea typeface="標楷體" panose="03000509000000000000" pitchFamily="65" charset="-120"/>
              </a:rPr>
              <a:t>H. </a:t>
            </a:r>
            <a:r>
              <a:rPr lang="en-US" altLang="zh-TW" i="1" dirty="0" err="1">
                <a:latin typeface="標楷體" panose="03000509000000000000" pitchFamily="65" charset="-120"/>
                <a:ea typeface="標楷體" panose="03000509000000000000" pitchFamily="65" charset="-120"/>
              </a:rPr>
              <a:t>erythrogramma</a:t>
            </a:r>
            <a:r>
              <a:rPr lang="en-US" altLang="zh-TW" i="1"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進行了實驗，測試了四種不同暴露時間（</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12</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24</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48 </a:t>
            </a:r>
            <a:r>
              <a:rPr lang="zh-TW" altLang="en-US" dirty="0">
                <a:latin typeface="標楷體" panose="03000509000000000000" pitchFamily="65" charset="-120"/>
                <a:ea typeface="標楷體" panose="03000509000000000000" pitchFamily="65" charset="-120"/>
              </a:rPr>
              <a:t>小時）和三種不同</a:t>
            </a:r>
            <a:r>
              <a:rPr lang="zh-TW" altLang="en-US" dirty="0" smtClean="0">
                <a:latin typeface="標楷體" panose="03000509000000000000" pitchFamily="65" charset="-120"/>
                <a:ea typeface="標楷體" panose="03000509000000000000" pitchFamily="65" charset="-120"/>
              </a:rPr>
              <a:t>暴露溫度</a:t>
            </a:r>
            <a:r>
              <a:rPr lang="zh-TW" altLang="en-US" dirty="0">
                <a:latin typeface="標楷體" panose="03000509000000000000" pitchFamily="65" charset="-120"/>
                <a:ea typeface="標楷體" panose="03000509000000000000" pitchFamily="65" charset="-120"/>
              </a:rPr>
              <a:t>（“環境</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27</a:t>
            </a:r>
            <a:r>
              <a:rPr lang="en-US" altLang="zh-TW" dirty="0" smtClean="0">
                <a:solidFill>
                  <a:schemeClr val="tx1"/>
                </a:solidFill>
                <a:latin typeface="標楷體" panose="03000509000000000000" pitchFamily="65" charset="-120"/>
                <a:ea typeface="標楷體" panose="03000509000000000000" pitchFamily="65" charset="-120"/>
              </a:rPr>
              <a:t> °C</a:t>
            </a:r>
            <a:r>
              <a:rPr lang="zh-TW" altLang="en-US" dirty="0" smtClean="0">
                <a:solidFill>
                  <a:schemeClr val="tx1"/>
                </a:solidFill>
                <a:latin typeface="標楷體" panose="03000509000000000000" pitchFamily="65" charset="-120"/>
                <a:ea typeface="標楷體" panose="03000509000000000000" pitchFamily="65" charset="-120"/>
              </a:rPr>
              <a:t>冷藏</a:t>
            </a:r>
            <a:r>
              <a:rPr lang="en-US" altLang="zh-TW" dirty="0" smtClean="0">
                <a:solidFill>
                  <a:schemeClr val="tx1"/>
                </a:solidFill>
                <a:latin typeface="標楷體" panose="03000509000000000000" pitchFamily="65" charset="-120"/>
                <a:ea typeface="標楷體" panose="03000509000000000000" pitchFamily="65" charset="-120"/>
              </a:rPr>
              <a:t>12</a:t>
            </a:r>
            <a:r>
              <a:rPr lang="en-US" altLang="zh-TW" dirty="0">
                <a:solidFill>
                  <a:schemeClr val="tx1"/>
                </a:solidFill>
                <a:latin typeface="標楷體" panose="03000509000000000000" pitchFamily="65" charset="-120"/>
                <a:ea typeface="標楷體" panose="03000509000000000000" pitchFamily="65" charset="-120"/>
              </a:rPr>
              <a:t> °</a:t>
            </a:r>
            <a:r>
              <a:rPr lang="en-US" altLang="zh-TW" dirty="0" smtClean="0">
                <a:solidFill>
                  <a:schemeClr val="tx1"/>
                </a:solidFill>
                <a:latin typeface="標楷體" panose="03000509000000000000" pitchFamily="65" charset="-120"/>
                <a:ea typeface="標楷體" panose="03000509000000000000" pitchFamily="65" charset="-120"/>
              </a:rPr>
              <a:t>C</a:t>
            </a:r>
            <a:r>
              <a:rPr lang="zh-TW" altLang="en-US" dirty="0" smtClean="0">
                <a:solidFill>
                  <a:schemeClr val="tx1"/>
                </a:solidFill>
                <a:latin typeface="標楷體" panose="03000509000000000000" pitchFamily="65" charset="-120"/>
                <a:ea typeface="標楷體" panose="03000509000000000000" pitchFamily="65" charset="-120"/>
              </a:rPr>
              <a:t>冷藏</a:t>
            </a:r>
            <a:r>
              <a:rPr lang="en-US" altLang="zh-TW" dirty="0" smtClean="0">
                <a:solidFill>
                  <a:schemeClr val="tx1"/>
                </a:solidFill>
                <a:latin typeface="標楷體" panose="03000509000000000000" pitchFamily="65" charset="-120"/>
                <a:ea typeface="標楷體" panose="03000509000000000000" pitchFamily="65" charset="-120"/>
              </a:rPr>
              <a:t>4</a:t>
            </a:r>
            <a:r>
              <a:rPr lang="en-US" altLang="zh-TW" dirty="0">
                <a:solidFill>
                  <a:schemeClr val="tx1"/>
                </a:solidFill>
                <a:latin typeface="標楷體" panose="03000509000000000000" pitchFamily="65" charset="-120"/>
                <a:ea typeface="標楷體" panose="03000509000000000000" pitchFamily="65" charset="-120"/>
              </a:rPr>
              <a:t> °C</a:t>
            </a:r>
            <a:r>
              <a:rPr lang="en-US" altLang="zh-TW" dirty="0" smtClean="0">
                <a:solidFill>
                  <a:schemeClr val="tx1"/>
                </a:solidFill>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共設定</a:t>
            </a:r>
            <a:r>
              <a:rPr lang="en-US" altLang="zh-TW" dirty="0">
                <a:latin typeface="標楷體" panose="03000509000000000000" pitchFamily="65" charset="-120"/>
                <a:ea typeface="標楷體" panose="03000509000000000000" pitchFamily="65" charset="-120"/>
              </a:rPr>
              <a:t>12</a:t>
            </a:r>
            <a:r>
              <a:rPr lang="zh-TW" altLang="en-US" dirty="0">
                <a:latin typeface="標楷體" panose="03000509000000000000" pitchFamily="65" charset="-120"/>
                <a:ea typeface="標楷體" panose="03000509000000000000" pitchFamily="65" charset="-120"/>
              </a:rPr>
              <a:t>個處理組。每個處理組設定</a:t>
            </a:r>
            <a:r>
              <a:rPr lang="en-US" altLang="zh-TW" dirty="0">
                <a:latin typeface="標楷體" panose="03000509000000000000" pitchFamily="65" charset="-120"/>
                <a:ea typeface="標楷體" panose="03000509000000000000" pitchFamily="65" charset="-120"/>
              </a:rPr>
              <a:t>5</a:t>
            </a:r>
            <a:r>
              <a:rPr lang="zh-TW" altLang="en-US" dirty="0">
                <a:latin typeface="標楷體" panose="03000509000000000000" pitchFamily="65" charset="-120"/>
                <a:ea typeface="標楷體" panose="03000509000000000000" pitchFamily="65" charset="-120"/>
              </a:rPr>
              <a:t>個重複海膽（共</a:t>
            </a:r>
            <a:r>
              <a:rPr lang="en-US" altLang="zh-TW" dirty="0">
                <a:latin typeface="標楷體" panose="03000509000000000000" pitchFamily="65" charset="-120"/>
                <a:ea typeface="標楷體" panose="03000509000000000000" pitchFamily="65" charset="-120"/>
              </a:rPr>
              <a:t>60</a:t>
            </a:r>
            <a:r>
              <a:rPr lang="zh-TW" altLang="en-US" dirty="0">
                <a:latin typeface="標楷體" panose="03000509000000000000" pitchFamily="65" charset="-120"/>
                <a:ea typeface="標楷體" panose="03000509000000000000" pitchFamily="65" charset="-120"/>
              </a:rPr>
              <a:t>隻</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zh-TW" altLang="en-US" dirty="0">
                <a:latin typeface="標楷體" panose="03000509000000000000" pitchFamily="65" charset="-120"/>
                <a:ea typeface="標楷體" panose="03000509000000000000" pitchFamily="65" charset="-120"/>
              </a:rPr>
              <a:t>；以及</a:t>
            </a:r>
            <a:r>
              <a:rPr lang="en-US" altLang="zh-TW" dirty="0">
                <a:latin typeface="標楷體" panose="03000509000000000000" pitchFamily="65" charset="-120"/>
                <a:ea typeface="標楷體" panose="03000509000000000000" pitchFamily="65" charset="-120"/>
              </a:rPr>
              <a:t>60</a:t>
            </a:r>
            <a:r>
              <a:rPr lang="zh-TW" altLang="en-US" dirty="0">
                <a:latin typeface="標楷體" panose="03000509000000000000" pitchFamily="65" charset="-120"/>
                <a:ea typeface="標楷體" panose="03000509000000000000" pitchFamily="65" charset="-120"/>
              </a:rPr>
              <a:t>隻</a:t>
            </a:r>
            <a:r>
              <a:rPr lang="en-US" altLang="zh-TW" i="1" dirty="0">
                <a:latin typeface="標楷體" panose="03000509000000000000" pitchFamily="65" charset="-120"/>
                <a:ea typeface="標楷體" panose="03000509000000000000" pitchFamily="65" charset="-120"/>
              </a:rPr>
              <a:t>H. </a:t>
            </a:r>
            <a:r>
              <a:rPr lang="en-US" altLang="zh-TW" i="1" dirty="0" err="1">
                <a:latin typeface="標楷體" panose="03000509000000000000" pitchFamily="65" charset="-120"/>
                <a:ea typeface="標楷體" panose="03000509000000000000" pitchFamily="65" charset="-120"/>
              </a:rPr>
              <a:t>erythrogramma</a:t>
            </a:r>
            <a:r>
              <a:rPr lang="zh-TW" altLang="en-US" dirty="0">
                <a:latin typeface="標楷體" panose="03000509000000000000" pitchFamily="65" charset="-120"/>
                <a:ea typeface="標楷體" panose="03000509000000000000" pitchFamily="65" charset="-120"/>
              </a:rPr>
              <a:t>）。實驗開始時，海膽被隨機分配到各個處理組，並測量以獲得初始</a:t>
            </a:r>
            <a:r>
              <a:rPr lang="en-US" altLang="zh-TW" dirty="0">
                <a:latin typeface="標楷體" panose="03000509000000000000" pitchFamily="65" charset="-120"/>
                <a:ea typeface="標楷體" panose="03000509000000000000" pitchFamily="65" charset="-120"/>
              </a:rPr>
              <a:t>TD</a:t>
            </a:r>
            <a:r>
              <a:rPr lang="zh-TW" altLang="en-US" dirty="0">
                <a:latin typeface="標楷體" panose="03000509000000000000" pitchFamily="65" charset="-120"/>
                <a:ea typeface="標楷體" panose="03000509000000000000" pitchFamily="65" charset="-120"/>
              </a:rPr>
              <a:t>（殼徑）和</a:t>
            </a:r>
            <a:r>
              <a:rPr lang="en-US" altLang="zh-TW" dirty="0">
                <a:latin typeface="標楷體" panose="03000509000000000000" pitchFamily="65" charset="-120"/>
                <a:ea typeface="標楷體" panose="03000509000000000000" pitchFamily="65" charset="-120"/>
              </a:rPr>
              <a:t>WW</a:t>
            </a:r>
            <a:r>
              <a:rPr lang="zh-TW" altLang="en-US" dirty="0">
                <a:latin typeface="標楷體" panose="03000509000000000000" pitchFamily="65" charset="-120"/>
                <a:ea typeface="標楷體" panose="03000509000000000000" pitchFamily="65" charset="-120"/>
              </a:rPr>
              <a:t>（濕重）值。 </a:t>
            </a:r>
            <a:r>
              <a:rPr lang="en-US" altLang="zh-TW" dirty="0">
                <a:latin typeface="標楷體" panose="03000509000000000000" pitchFamily="65" charset="-120"/>
                <a:ea typeface="標楷體" panose="03000509000000000000" pitchFamily="65" charset="-120"/>
              </a:rPr>
              <a:t>TD</a:t>
            </a:r>
            <a:r>
              <a:rPr lang="zh-TW" altLang="en-US" dirty="0">
                <a:latin typeface="標楷體" panose="03000509000000000000" pitchFamily="65" charset="-120"/>
                <a:ea typeface="標楷體" panose="03000509000000000000" pitchFamily="65" charset="-120"/>
              </a:rPr>
              <a:t>為使用遊標卡尺測量每隻海膽殼反口側兩個垂直方向的平均值。為了獲得初始</a:t>
            </a:r>
            <a:r>
              <a:rPr lang="en-US" altLang="zh-TW" dirty="0">
                <a:latin typeface="標楷體" panose="03000509000000000000" pitchFamily="65" charset="-120"/>
                <a:ea typeface="標楷體" panose="03000509000000000000" pitchFamily="65" charset="-120"/>
              </a:rPr>
              <a:t>WW</a:t>
            </a:r>
            <a:r>
              <a:rPr lang="zh-TW" altLang="en-US" dirty="0">
                <a:latin typeface="標楷體" panose="03000509000000000000" pitchFamily="65" charset="-120"/>
                <a:ea typeface="標楷體" panose="03000509000000000000" pitchFamily="65" charset="-120"/>
              </a:rPr>
              <a:t>，將海膽從水中取出並保持</a:t>
            </a:r>
            <a:r>
              <a:rPr lang="en-US" altLang="zh-TW" dirty="0">
                <a:latin typeface="標楷體" panose="03000509000000000000" pitchFamily="65" charset="-120"/>
                <a:ea typeface="標楷體" panose="03000509000000000000" pitchFamily="65" charset="-120"/>
              </a:rPr>
              <a:t>30</a:t>
            </a:r>
            <a:r>
              <a:rPr lang="zh-TW" altLang="en-US" dirty="0">
                <a:latin typeface="標楷體" panose="03000509000000000000" pitchFamily="65" charset="-120"/>
                <a:ea typeface="標楷體" panose="03000509000000000000" pitchFamily="65" charset="-120"/>
              </a:rPr>
              <a:t>秒以去除多餘海水後稱重。初始</a:t>
            </a:r>
            <a:r>
              <a:rPr lang="en-US" altLang="zh-TW" dirty="0">
                <a:latin typeface="標楷體" panose="03000509000000000000" pitchFamily="65" charset="-120"/>
                <a:ea typeface="標楷體" panose="03000509000000000000" pitchFamily="65" charset="-120"/>
              </a:rPr>
              <a:t>WW</a:t>
            </a:r>
            <a:r>
              <a:rPr lang="zh-TW" altLang="en-US" dirty="0">
                <a:latin typeface="標楷體" panose="03000509000000000000" pitchFamily="65" charset="-120"/>
                <a:ea typeface="標楷體" panose="03000509000000000000" pitchFamily="65" charset="-120"/>
              </a:rPr>
              <a:t>（雙因子變異數分析，</a:t>
            </a:r>
            <a:r>
              <a:rPr lang="en-US" altLang="zh-TW" dirty="0">
                <a:latin typeface="標楷體" panose="03000509000000000000" pitchFamily="65" charset="-120"/>
                <a:ea typeface="標楷體" panose="03000509000000000000" pitchFamily="65" charset="-120"/>
              </a:rPr>
              <a:t>p &gt; .05</a:t>
            </a:r>
            <a:r>
              <a:rPr lang="zh-TW" altLang="en-US" dirty="0">
                <a:latin typeface="標楷體" panose="03000509000000000000" pitchFamily="65" charset="-120"/>
                <a:ea typeface="標楷體" panose="03000509000000000000" pitchFamily="65" charset="-120"/>
              </a:rPr>
              <a:t>；平均值 </a:t>
            </a:r>
            <a:r>
              <a:rPr lang="en-US" altLang="zh-TW" dirty="0">
                <a:latin typeface="標楷體" panose="03000509000000000000" pitchFamily="65" charset="-120"/>
                <a:ea typeface="標楷體" panose="03000509000000000000" pitchFamily="65" charset="-120"/>
              </a:rPr>
              <a:t>= 182.4 g ± 6.3 SE</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TD</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p &gt; .05</a:t>
            </a:r>
            <a:r>
              <a:rPr lang="zh-TW" altLang="en-US" dirty="0">
                <a:latin typeface="標楷體" panose="03000509000000000000" pitchFamily="65" charset="-120"/>
                <a:ea typeface="標楷體" panose="03000509000000000000" pitchFamily="65" charset="-120"/>
              </a:rPr>
              <a:t>；平均值 </a:t>
            </a:r>
            <a:r>
              <a:rPr lang="en-US" altLang="zh-TW" dirty="0">
                <a:latin typeface="標楷體" panose="03000509000000000000" pitchFamily="65" charset="-120"/>
                <a:ea typeface="標楷體" panose="03000509000000000000" pitchFamily="65" charset="-120"/>
              </a:rPr>
              <a:t>= 74.5 mm</a:t>
            </a:r>
            <a:r>
              <a:rPr lang="zh-TW" altLang="en-US" dirty="0">
                <a:latin typeface="標楷體" panose="03000509000000000000" pitchFamily="65" charset="-120"/>
                <a:ea typeface="標楷體" panose="03000509000000000000" pitchFamily="65" charset="-120"/>
              </a:rPr>
              <a:t>）均無顯著差異。各處理組間 </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en-US" altLang="zh-TW" i="1"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的重量差異無統計學意義（</a:t>
            </a:r>
            <a:r>
              <a:rPr lang="en-US" altLang="zh-TW" dirty="0">
                <a:latin typeface="標楷體" panose="03000509000000000000" pitchFamily="65" charset="-120"/>
                <a:ea typeface="標楷體" panose="03000509000000000000" pitchFamily="65" charset="-120"/>
              </a:rPr>
              <a:t>± 0.8 SE</a:t>
            </a:r>
            <a:r>
              <a:rPr lang="zh-TW" altLang="en-US" dirty="0">
                <a:latin typeface="標楷體" panose="03000509000000000000" pitchFamily="65" charset="-120"/>
                <a:ea typeface="標楷體" panose="03000509000000000000" pitchFamily="65" charset="-120"/>
              </a:rPr>
              <a:t>）。各處理組間 </a:t>
            </a:r>
            <a:r>
              <a:rPr lang="en-US" altLang="zh-TW" i="1" dirty="0">
                <a:latin typeface="標楷體" panose="03000509000000000000" pitchFamily="65" charset="-120"/>
                <a:ea typeface="標楷體" panose="03000509000000000000" pitchFamily="65" charset="-120"/>
              </a:rPr>
              <a:t>H. </a:t>
            </a:r>
            <a:r>
              <a:rPr lang="en-US" altLang="zh-TW" i="1" dirty="0" err="1">
                <a:latin typeface="標楷體" panose="03000509000000000000" pitchFamily="65" charset="-120"/>
                <a:ea typeface="標楷體" panose="03000509000000000000" pitchFamily="65" charset="-120"/>
              </a:rPr>
              <a:t>erythrogramma</a:t>
            </a:r>
            <a:r>
              <a:rPr lang="en-US" altLang="zh-TW" i="1"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的初始重量（</a:t>
            </a:r>
            <a:r>
              <a:rPr lang="en-US" altLang="zh-TW" dirty="0">
                <a:latin typeface="標楷體" panose="03000509000000000000" pitchFamily="65" charset="-120"/>
                <a:ea typeface="標楷體" panose="03000509000000000000" pitchFamily="65" charset="-120"/>
              </a:rPr>
              <a:t>WW</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p &gt; .05</a:t>
            </a:r>
            <a:r>
              <a:rPr lang="zh-TW" altLang="en-US" dirty="0">
                <a:latin typeface="標楷體" panose="03000509000000000000" pitchFamily="65" charset="-120"/>
                <a:ea typeface="標楷體" panose="03000509000000000000" pitchFamily="65" charset="-120"/>
              </a:rPr>
              <a:t>；平均值 </a:t>
            </a:r>
            <a:r>
              <a:rPr lang="en-US" altLang="zh-TW" dirty="0">
                <a:latin typeface="標楷體" panose="03000509000000000000" pitchFamily="65" charset="-120"/>
                <a:ea typeface="標楷體" panose="03000509000000000000" pitchFamily="65" charset="-120"/>
              </a:rPr>
              <a:t>= 111.8 g ± 6.7 SE</a:t>
            </a:r>
            <a:r>
              <a:rPr lang="zh-TW" altLang="en-US" dirty="0">
                <a:latin typeface="標楷體" panose="03000509000000000000" pitchFamily="65" charset="-120"/>
                <a:ea typeface="標楷體" panose="03000509000000000000" pitchFamily="65" charset="-120"/>
              </a:rPr>
              <a:t>）或總厚度（</a:t>
            </a:r>
            <a:r>
              <a:rPr lang="en-US" altLang="zh-TW" dirty="0">
                <a:latin typeface="標楷體" panose="03000509000000000000" pitchFamily="65" charset="-120"/>
                <a:ea typeface="標楷體" panose="03000509000000000000" pitchFamily="65" charset="-120"/>
              </a:rPr>
              <a:t>TD</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p &gt; .05</a:t>
            </a:r>
            <a:r>
              <a:rPr lang="zh-TW" altLang="en-US" dirty="0">
                <a:latin typeface="標楷體" panose="03000509000000000000" pitchFamily="65" charset="-120"/>
                <a:ea typeface="標楷體" panose="03000509000000000000" pitchFamily="65" charset="-120"/>
              </a:rPr>
              <a:t>；平均值 </a:t>
            </a:r>
            <a:r>
              <a:rPr lang="en-US" altLang="zh-TW" dirty="0">
                <a:latin typeface="標楷體" panose="03000509000000000000" pitchFamily="65" charset="-120"/>
                <a:ea typeface="標楷體" panose="03000509000000000000" pitchFamily="65" charset="-120"/>
              </a:rPr>
              <a:t>= 64.4 mm ± 1.4 SE</a:t>
            </a:r>
            <a:r>
              <a:rPr lang="zh-TW" altLang="en-US" dirty="0">
                <a:latin typeface="標楷體" panose="03000509000000000000" pitchFamily="65" charset="-120"/>
                <a:ea typeface="標楷體" panose="03000509000000000000" pitchFamily="65" charset="-120"/>
              </a:rPr>
              <a:t>）也無顯著差異。稱重後，將海膽分別放入食品級圓柱形聚丙烯容器（直徑 </a:t>
            </a:r>
            <a:r>
              <a:rPr lang="en-US" altLang="zh-TW" dirty="0">
                <a:latin typeface="標楷體" panose="03000509000000000000" pitchFamily="65" charset="-120"/>
                <a:ea typeface="標楷體" panose="03000509000000000000" pitchFamily="65" charset="-120"/>
              </a:rPr>
              <a:t>11.5 cm × </a:t>
            </a:r>
            <a:r>
              <a:rPr lang="zh-TW" altLang="en-US" dirty="0">
                <a:latin typeface="標楷體" panose="03000509000000000000" pitchFamily="65" charset="-120"/>
                <a:ea typeface="標楷體" panose="03000509000000000000" pitchFamily="65" charset="-120"/>
              </a:rPr>
              <a:t>高 </a:t>
            </a:r>
            <a:r>
              <a:rPr lang="en-US" altLang="zh-TW" dirty="0">
                <a:latin typeface="標楷體" panose="03000509000000000000" pitchFamily="65" charset="-120"/>
                <a:ea typeface="標楷體" panose="03000509000000000000" pitchFamily="65" charset="-120"/>
              </a:rPr>
              <a:t>8.5 cm</a:t>
            </a:r>
            <a:r>
              <a:rPr lang="zh-TW" altLang="en-US" dirty="0">
                <a:latin typeface="標楷體" panose="03000509000000000000" pitchFamily="65" charset="-120"/>
                <a:ea typeface="標楷體" panose="03000509000000000000" pitchFamily="65" charset="-120"/>
              </a:rPr>
              <a:t>，用配套的聚丙烯蓋密封）。然後將容器放入溫控櫃中，在分配的空氣暴露處理期間（</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12</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24 </a:t>
            </a:r>
            <a:r>
              <a:rPr lang="zh-TW" altLang="en-US" dirty="0">
                <a:latin typeface="標楷體" panose="03000509000000000000" pitchFamily="65" charset="-120"/>
                <a:ea typeface="標楷體" panose="03000509000000000000" pitchFamily="65" charset="-120"/>
              </a:rPr>
              <a:t>或 </a:t>
            </a:r>
            <a:r>
              <a:rPr lang="en-US" altLang="zh-TW" dirty="0">
                <a:latin typeface="標楷體" panose="03000509000000000000" pitchFamily="65" charset="-120"/>
                <a:ea typeface="標楷體" panose="03000509000000000000" pitchFamily="65" charset="-120"/>
              </a:rPr>
              <a:t>48 </a:t>
            </a:r>
            <a:r>
              <a:rPr lang="zh-TW" altLang="en-US" dirty="0">
                <a:latin typeface="標楷體" panose="03000509000000000000" pitchFamily="65" charset="-120"/>
                <a:ea typeface="標楷體" panose="03000509000000000000" pitchFamily="65" charset="-120"/>
              </a:rPr>
              <a:t>小時），每 </a:t>
            </a:r>
            <a:r>
              <a:rPr lang="en-US" altLang="zh-TW" dirty="0">
                <a:latin typeface="標楷體" panose="03000509000000000000" pitchFamily="65" charset="-120"/>
                <a:ea typeface="標楷體" panose="03000509000000000000" pitchFamily="65" charset="-120"/>
              </a:rPr>
              <a:t>30 </a:t>
            </a:r>
            <a:r>
              <a:rPr lang="zh-TW" altLang="en-US" dirty="0">
                <a:latin typeface="標楷體" panose="03000509000000000000" pitchFamily="65" charset="-120"/>
                <a:ea typeface="標楷體" panose="03000509000000000000" pitchFamily="65" charset="-120"/>
              </a:rPr>
              <a:t>分鐘使用</a:t>
            </a:r>
            <a:r>
              <a:rPr lang="zh-TW" altLang="en-US" dirty="0" smtClean="0">
                <a:latin typeface="標楷體" panose="03000509000000000000" pitchFamily="65" charset="-120"/>
                <a:ea typeface="標楷體" panose="03000509000000000000" pitchFamily="65" charset="-120"/>
              </a:rPr>
              <a:t>溫度計（</a:t>
            </a:r>
            <a:r>
              <a:rPr lang="en-US" altLang="zh-TW" dirty="0" err="1">
                <a:latin typeface="標楷體" panose="03000509000000000000" pitchFamily="65" charset="-120"/>
                <a:ea typeface="標楷體" panose="03000509000000000000" pitchFamily="65" charset="-120"/>
              </a:rPr>
              <a:t>Thermodata</a:t>
            </a:r>
            <a:r>
              <a:rPr lang="en-US" altLang="zh-TW" dirty="0">
                <a:latin typeface="標楷體" panose="03000509000000000000" pitchFamily="65" charset="-120"/>
                <a:ea typeface="標楷體" panose="03000509000000000000" pitchFamily="65" charset="-120"/>
              </a:rPr>
              <a:t> </a:t>
            </a:r>
            <a:r>
              <a:rPr lang="en-US" altLang="zh-TW" dirty="0" err="1">
                <a:latin typeface="標楷體" panose="03000509000000000000" pitchFamily="65" charset="-120"/>
                <a:ea typeface="標楷體" panose="03000509000000000000" pitchFamily="65" charset="-120"/>
              </a:rPr>
              <a:t>IBCod</a:t>
            </a:r>
            <a:r>
              <a:rPr lang="en-US" altLang="zh-TW" dirty="0">
                <a:latin typeface="標楷體" panose="03000509000000000000" pitchFamily="65" charset="-120"/>
                <a:ea typeface="標楷體" panose="03000509000000000000" pitchFamily="65" charset="-120"/>
              </a:rPr>
              <a:t> 22L</a:t>
            </a:r>
            <a:r>
              <a:rPr lang="zh-TW" altLang="en-US" dirty="0">
                <a:latin typeface="標楷體" panose="03000509000000000000" pitchFamily="65" charset="-120"/>
                <a:ea typeface="標楷體" panose="03000509000000000000" pitchFamily="65" charset="-120"/>
              </a:rPr>
              <a:t>）記錄一次空氣溫度：</a:t>
            </a:r>
            <a:r>
              <a:rPr lang="en-US" altLang="zh-TW" dirty="0">
                <a:latin typeface="標楷體" panose="03000509000000000000" pitchFamily="65" charset="-120"/>
                <a:ea typeface="標楷體" panose="03000509000000000000" pitchFamily="65" charset="-120"/>
              </a:rPr>
              <a:t>T. </a:t>
            </a:r>
            <a:r>
              <a:rPr lang="en-US" altLang="zh-TW" dirty="0" err="1">
                <a:latin typeface="標楷體" panose="03000509000000000000" pitchFamily="65" charset="-120"/>
                <a:ea typeface="標楷體" panose="03000509000000000000" pitchFamily="65" charset="-120"/>
              </a:rPr>
              <a:t>gratilla</a:t>
            </a:r>
            <a:r>
              <a:rPr lang="zh-TW" altLang="en-US" dirty="0">
                <a:latin typeface="標楷體" panose="03000509000000000000" pitchFamily="65" charset="-120"/>
                <a:ea typeface="標楷體" panose="03000509000000000000" pitchFamily="65" charset="-120"/>
              </a:rPr>
              <a:t>（環境溫度 </a:t>
            </a:r>
            <a:r>
              <a:rPr lang="en-US" altLang="zh-TW" dirty="0">
                <a:latin typeface="標楷體" panose="03000509000000000000" pitchFamily="65" charset="-120"/>
                <a:ea typeface="標楷體" panose="03000509000000000000" pitchFamily="65" charset="-120"/>
              </a:rPr>
              <a:t>= 27.9 ℃ ± 1.0 SD</a:t>
            </a:r>
            <a:r>
              <a:rPr lang="zh-TW" altLang="en-US" dirty="0">
                <a:latin typeface="標楷體" panose="03000509000000000000" pitchFamily="65" charset="-120"/>
                <a:ea typeface="標楷體" panose="03000509000000000000" pitchFamily="65" charset="-120"/>
              </a:rPr>
              <a:t>；冷藏溫度 </a:t>
            </a:r>
            <a:r>
              <a:rPr lang="en-US" altLang="zh-TW" dirty="0">
                <a:latin typeface="標楷體" panose="03000509000000000000" pitchFamily="65" charset="-120"/>
                <a:ea typeface="標楷體" panose="03000509000000000000" pitchFamily="65" charset="-120"/>
              </a:rPr>
              <a:t>= 3.8 ℃</a:t>
            </a:r>
            <a:r>
              <a:rPr lang="zh-TW" altLang="en-US" dirty="0">
                <a:latin typeface="標楷體" panose="03000509000000000000" pitchFamily="65" charset="-120"/>
                <a:ea typeface="標楷體" panose="03000509000000000000" pitchFamily="65" charset="-120"/>
              </a:rPr>
              <a:t>溫度 </a:t>
            </a:r>
            <a:r>
              <a:rPr lang="en-US" altLang="zh-TW" dirty="0">
                <a:latin typeface="標楷體" panose="03000509000000000000" pitchFamily="65" charset="-120"/>
                <a:ea typeface="標楷體" panose="03000509000000000000" pitchFamily="65" charset="-120"/>
              </a:rPr>
              <a:t>± 2.4 ± 18° </a:t>
            </a:r>
            <a:r>
              <a:rPr lang="zh-TW" altLang="en-US" dirty="0">
                <a:latin typeface="標楷體" panose="03000509000000000000" pitchFamily="65" charset="-120"/>
                <a:ea typeface="標楷體" panose="03000509000000000000" pitchFamily="65" charset="-120"/>
              </a:rPr>
              <a:t>溫度）； </a:t>
            </a:r>
            <a:r>
              <a:rPr lang="en-US" altLang="zh-TW" dirty="0">
                <a:latin typeface="標楷體" panose="03000509000000000000" pitchFamily="65" charset="-120"/>
                <a:ea typeface="標楷體" panose="03000509000000000000" pitchFamily="65" charset="-120"/>
              </a:rPr>
              <a:t>26.5 ℃ ± 1.6 SD</a:t>
            </a:r>
            <a:r>
              <a:rPr lang="zh-TW" altLang="en-US" dirty="0">
                <a:latin typeface="標楷體" panose="03000509000000000000" pitchFamily="65" charset="-120"/>
                <a:ea typeface="標楷體" panose="03000509000000000000" pitchFamily="65" charset="-120"/>
              </a:rPr>
              <a:t>；冷卻溫度 </a:t>
            </a:r>
            <a:r>
              <a:rPr lang="en-US" altLang="zh-TW" dirty="0">
                <a:latin typeface="標楷體" panose="03000509000000000000" pitchFamily="65" charset="-120"/>
                <a:ea typeface="標楷體" panose="03000509000000000000" pitchFamily="65" charset="-120"/>
              </a:rPr>
              <a:t>= 12.0 ℃ ± 0.8 </a:t>
            </a:r>
            <a:r>
              <a:rPr lang="en-US" altLang="zh-TW" dirty="0" smtClean="0">
                <a:latin typeface="標楷體" panose="03000509000000000000" pitchFamily="65" charset="-120"/>
                <a:ea typeface="標楷體" panose="03000509000000000000" pitchFamily="65" charset="-120"/>
              </a:rPr>
              <a:t>SD(</a:t>
            </a:r>
            <a:r>
              <a:rPr lang="zh-TW" altLang="en-US" dirty="0" smtClean="0">
                <a:latin typeface="標楷體" panose="03000509000000000000" pitchFamily="65" charset="-120"/>
                <a:ea typeface="標楷體" panose="03000509000000000000" pitchFamily="65" charset="-120"/>
              </a:rPr>
              <a:t>標準差</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864354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96638" y="1339726"/>
            <a:ext cx="8972510" cy="4517735"/>
          </a:xfrm>
        </p:spPr>
        <p:txBody>
          <a:bodyPr>
            <a:normAutofit fontScale="90000"/>
          </a:bodyPr>
          <a:lstStyle/>
          <a:p>
            <a:r>
              <a:rPr lang="zh-TW" altLang="en-US" sz="2000" dirty="0">
                <a:solidFill>
                  <a:schemeClr val="tx1"/>
                </a:solidFill>
                <a:latin typeface="標楷體" panose="03000509000000000000" pitchFamily="65" charset="-120"/>
                <a:ea typeface="標楷體" panose="03000509000000000000" pitchFamily="65" charset="-120"/>
              </a:rPr>
              <a:t>在</a:t>
            </a:r>
            <a:r>
              <a:rPr lang="zh-TW" altLang="en-US" sz="2000" dirty="0" smtClean="0">
                <a:solidFill>
                  <a:schemeClr val="tx1"/>
                </a:solidFill>
                <a:latin typeface="標楷體" panose="03000509000000000000" pitchFamily="65" charset="-120"/>
                <a:ea typeface="標楷體" panose="03000509000000000000" pitchFamily="65" charset="-120"/>
              </a:rPr>
              <a:t>完成</a:t>
            </a:r>
            <a:r>
              <a:rPr lang="zh-TW" altLang="en-US" sz="2000" dirty="0">
                <a:solidFill>
                  <a:schemeClr val="tx1"/>
                </a:solidFill>
                <a:latin typeface="標楷體" panose="03000509000000000000" pitchFamily="65" charset="-120"/>
                <a:ea typeface="標楷體" panose="03000509000000000000" pitchFamily="65" charset="-120"/>
              </a:rPr>
              <a:t>分配的實驗</a:t>
            </a:r>
            <a:r>
              <a:rPr lang="zh-TW" altLang="en-US" sz="2000" dirty="0" smtClean="0">
                <a:solidFill>
                  <a:schemeClr val="tx1"/>
                </a:solidFill>
                <a:latin typeface="標楷體" panose="03000509000000000000" pitchFamily="65" charset="-120"/>
                <a:ea typeface="標楷體" panose="03000509000000000000" pitchFamily="65" charset="-120"/>
              </a:rPr>
              <a:t>處理</a:t>
            </a:r>
            <a:r>
              <a:rPr lang="zh-TW" altLang="en-US" sz="2000" dirty="0">
                <a:solidFill>
                  <a:schemeClr val="tx1"/>
                </a:solidFill>
                <a:latin typeface="標楷體" panose="03000509000000000000" pitchFamily="65" charset="-120"/>
                <a:ea typeface="標楷體" panose="03000509000000000000" pitchFamily="65" charset="-120"/>
              </a:rPr>
              <a:t>後，每隻海膽</a:t>
            </a:r>
            <a:r>
              <a:rPr lang="zh-TW" altLang="en-US" sz="2000" dirty="0" smtClean="0">
                <a:solidFill>
                  <a:schemeClr val="tx1"/>
                </a:solidFill>
                <a:latin typeface="標楷體" panose="03000509000000000000" pitchFamily="65" charset="-120"/>
                <a:ea typeface="標楷體" panose="03000509000000000000" pitchFamily="65" charset="-120"/>
              </a:rPr>
              <a:t>都重新</a:t>
            </a:r>
            <a:r>
              <a:rPr lang="zh-TW" altLang="en-US" sz="2000" dirty="0">
                <a:solidFill>
                  <a:schemeClr val="tx1"/>
                </a:solidFill>
                <a:latin typeface="標楷體" panose="03000509000000000000" pitchFamily="65" charset="-120"/>
                <a:ea typeface="標楷體" panose="03000509000000000000" pitchFamily="65" charset="-120"/>
              </a:rPr>
              <a:t>稱重。海膽的重量變化，以下簡稱質量損失（</a:t>
            </a:r>
            <a:r>
              <a:rPr lang="en-US" altLang="zh-TW" sz="2000" dirty="0">
                <a:solidFill>
                  <a:schemeClr val="tx1"/>
                </a:solidFill>
                <a:latin typeface="標楷體" panose="03000509000000000000" pitchFamily="65" charset="-120"/>
                <a:ea typeface="標楷體" panose="03000509000000000000" pitchFamily="65" charset="-120"/>
              </a:rPr>
              <a:t>%</a:t>
            </a:r>
            <a:r>
              <a:rPr lang="zh-TW" altLang="en-US" sz="2000" dirty="0">
                <a:solidFill>
                  <a:schemeClr val="tx1"/>
                </a:solidFill>
                <a:latin typeface="標楷體" panose="03000509000000000000" pitchFamily="65" charset="-120"/>
                <a:ea typeface="標楷體" panose="03000509000000000000" pitchFamily="65" charset="-120"/>
              </a:rPr>
              <a:t>），將最終重量除以初始重量乘以 </a:t>
            </a:r>
            <a:r>
              <a:rPr lang="en-US" altLang="zh-TW" sz="2000" dirty="0">
                <a:solidFill>
                  <a:schemeClr val="tx1"/>
                </a:solidFill>
                <a:latin typeface="標楷體" panose="03000509000000000000" pitchFamily="65" charset="-120"/>
                <a:ea typeface="標楷體" panose="03000509000000000000" pitchFamily="65" charset="-120"/>
              </a:rPr>
              <a:t>100 </a:t>
            </a:r>
            <a:r>
              <a:rPr lang="zh-TW" altLang="en-US" sz="2000" dirty="0">
                <a:solidFill>
                  <a:schemeClr val="tx1"/>
                </a:solidFill>
                <a:latin typeface="標楷體" panose="03000509000000000000" pitchFamily="65" charset="-120"/>
                <a:ea typeface="標楷體" panose="03000509000000000000" pitchFamily="65" charset="-120"/>
              </a:rPr>
              <a:t>來計算。測量最終重量後，海膽立即被放入裝有 </a:t>
            </a:r>
            <a:r>
              <a:rPr lang="en-US" altLang="zh-TW" sz="2000" dirty="0">
                <a:solidFill>
                  <a:schemeClr val="tx1"/>
                </a:solidFill>
                <a:latin typeface="標楷體" panose="03000509000000000000" pitchFamily="65" charset="-120"/>
                <a:ea typeface="標楷體" panose="03000509000000000000" pitchFamily="65" charset="-120"/>
              </a:rPr>
              <a:t>1.0 L </a:t>
            </a:r>
            <a:r>
              <a:rPr lang="zh-TW" altLang="en-US" sz="2000" dirty="0">
                <a:solidFill>
                  <a:schemeClr val="tx1"/>
                </a:solidFill>
                <a:latin typeface="標楷體" panose="03000509000000000000" pitchFamily="65" charset="-120"/>
                <a:ea typeface="標楷體" panose="03000509000000000000" pitchFamily="65" charset="-120"/>
              </a:rPr>
              <a:t>海水的食品級圓柱</a:t>
            </a:r>
            <a:r>
              <a:rPr lang="zh-TW" altLang="en-US" sz="2000" dirty="0" smtClean="0">
                <a:solidFill>
                  <a:schemeClr val="tx1"/>
                </a:solidFill>
                <a:latin typeface="標楷體" panose="03000509000000000000" pitchFamily="65" charset="-120"/>
                <a:ea typeface="標楷體" panose="03000509000000000000" pitchFamily="65" charset="-120"/>
              </a:rPr>
              <a:t>形</a:t>
            </a:r>
            <a:r>
              <a:rPr lang="en-US" altLang="zh-TW" sz="2000" dirty="0" smtClean="0">
                <a:solidFill>
                  <a:schemeClr val="tx1"/>
                </a:solidFill>
                <a:latin typeface="標楷體" panose="03000509000000000000" pitchFamily="65" charset="-120"/>
                <a:ea typeface="標楷體" panose="03000509000000000000" pitchFamily="65" charset="-120"/>
              </a:rPr>
              <a:t>PC</a:t>
            </a:r>
            <a:r>
              <a:rPr lang="zh-TW" altLang="en-US" sz="2000" dirty="0" smtClean="0">
                <a:solidFill>
                  <a:schemeClr val="tx1"/>
                </a:solidFill>
                <a:latin typeface="標楷體" panose="03000509000000000000" pitchFamily="65" charset="-120"/>
                <a:ea typeface="標楷體" panose="03000509000000000000" pitchFamily="65" charset="-120"/>
              </a:rPr>
              <a:t>容器</a:t>
            </a:r>
            <a:r>
              <a:rPr lang="zh-TW" altLang="en-US" sz="2000" dirty="0">
                <a:solidFill>
                  <a:schemeClr val="tx1"/>
                </a:solidFill>
                <a:latin typeface="標楷體" panose="03000509000000000000" pitchFamily="65" charset="-120"/>
                <a:ea typeface="標楷體" panose="03000509000000000000" pitchFamily="65" charset="-120"/>
              </a:rPr>
              <a:t>（直徑 </a:t>
            </a:r>
            <a:r>
              <a:rPr lang="en-US" altLang="zh-TW" sz="2000" dirty="0">
                <a:solidFill>
                  <a:schemeClr val="tx1"/>
                </a:solidFill>
                <a:latin typeface="標楷體" panose="03000509000000000000" pitchFamily="65" charset="-120"/>
                <a:ea typeface="標楷體" panose="03000509000000000000" pitchFamily="65" charset="-120"/>
              </a:rPr>
              <a:t>12.5 cm × </a:t>
            </a:r>
            <a:r>
              <a:rPr lang="zh-TW" altLang="en-US" sz="2000" dirty="0">
                <a:solidFill>
                  <a:schemeClr val="tx1"/>
                </a:solidFill>
                <a:latin typeface="標楷體" panose="03000509000000000000" pitchFamily="65" charset="-120"/>
                <a:ea typeface="標楷體" panose="03000509000000000000" pitchFamily="65" charset="-120"/>
              </a:rPr>
              <a:t>高 </a:t>
            </a:r>
            <a:r>
              <a:rPr lang="en-US" altLang="zh-TW" sz="2000" dirty="0">
                <a:solidFill>
                  <a:schemeClr val="tx1"/>
                </a:solidFill>
                <a:latin typeface="標楷體" panose="03000509000000000000" pitchFamily="65" charset="-120"/>
                <a:ea typeface="標楷體" panose="03000509000000000000" pitchFamily="65" charset="-120"/>
              </a:rPr>
              <a:t>9.5 cm</a:t>
            </a:r>
            <a:r>
              <a:rPr lang="zh-TW" altLang="en-US" sz="2000" dirty="0">
                <a:solidFill>
                  <a:schemeClr val="tx1"/>
                </a:solidFill>
                <a:latin typeface="標楷體" panose="03000509000000000000" pitchFamily="65" charset="-120"/>
                <a:ea typeface="標楷體" panose="03000509000000000000" pitchFamily="65" charset="-120"/>
              </a:rPr>
              <a:t>）。然後將裝有活海膽的容器放入流通式海水系統中，每個容器透過滴水器以 </a:t>
            </a:r>
            <a:r>
              <a:rPr lang="en-US" altLang="zh-TW" sz="2000" dirty="0">
                <a:solidFill>
                  <a:schemeClr val="tx1"/>
                </a:solidFill>
                <a:latin typeface="標楷體" panose="03000509000000000000" pitchFamily="65" charset="-120"/>
                <a:ea typeface="標楷體" panose="03000509000000000000" pitchFamily="65" charset="-120"/>
              </a:rPr>
              <a:t>6.0 L/h </a:t>
            </a:r>
            <a:r>
              <a:rPr lang="zh-TW" altLang="en-US" sz="2000" dirty="0">
                <a:solidFill>
                  <a:schemeClr val="tx1"/>
                </a:solidFill>
                <a:latin typeface="標楷體" panose="03000509000000000000" pitchFamily="65" charset="-120"/>
                <a:ea typeface="標楷體" panose="03000509000000000000" pitchFamily="65" charset="-120"/>
              </a:rPr>
              <a:t>的速率獲得</a:t>
            </a:r>
            <a:r>
              <a:rPr lang="zh-TW" altLang="en-US" sz="2000" dirty="0" smtClean="0">
                <a:solidFill>
                  <a:schemeClr val="tx1"/>
                </a:solidFill>
                <a:latin typeface="標楷體" panose="03000509000000000000" pitchFamily="65" charset="-120"/>
                <a:ea typeface="標楷體" panose="03000509000000000000" pitchFamily="65" charset="-120"/>
              </a:rPr>
              <a:t>海水</a:t>
            </a:r>
            <a:r>
              <a:rPr lang="en-US" altLang="zh-TW" sz="2000" dirty="0" smtClean="0">
                <a:solidFill>
                  <a:schemeClr val="tx1"/>
                </a:solidFill>
                <a:latin typeface="標楷體" panose="03000509000000000000" pitchFamily="65" charset="-120"/>
                <a:ea typeface="標楷體" panose="03000509000000000000" pitchFamily="65" charset="-120"/>
              </a:rPr>
              <a:t/>
            </a:r>
            <a:br>
              <a:rPr lang="en-US" altLang="zh-TW" sz="2000" dirty="0" smtClean="0">
                <a:solidFill>
                  <a:schemeClr val="tx1"/>
                </a:solidFill>
                <a:latin typeface="標楷體" panose="03000509000000000000" pitchFamily="65" charset="-120"/>
                <a:ea typeface="標楷體" panose="03000509000000000000" pitchFamily="65" charset="-120"/>
              </a:rPr>
            </a:br>
            <a:r>
              <a:rPr lang="zh-TW" altLang="en-US" sz="2000" dirty="0">
                <a:solidFill>
                  <a:schemeClr val="tx1"/>
                </a:solidFill>
                <a:latin typeface="標楷體" panose="03000509000000000000" pitchFamily="65" charset="-120"/>
                <a:ea typeface="標楷體" panose="03000509000000000000" pitchFamily="65" charset="-120"/>
              </a:rPr>
              <a:t>將海膽放回水中後，密切監測</a:t>
            </a:r>
            <a:r>
              <a:rPr lang="en-US" altLang="zh-TW" sz="2000" dirty="0">
                <a:solidFill>
                  <a:schemeClr val="tx1"/>
                </a:solidFill>
                <a:latin typeface="標楷體" panose="03000509000000000000" pitchFamily="65" charset="-120"/>
                <a:ea typeface="標楷體" panose="03000509000000000000" pitchFamily="65" charset="-120"/>
              </a:rPr>
              <a:t>3</a:t>
            </a:r>
            <a:r>
              <a:rPr lang="zh-TW" altLang="en-US" sz="2000" dirty="0">
                <a:solidFill>
                  <a:schemeClr val="tx1"/>
                </a:solidFill>
                <a:latin typeface="標楷體" panose="03000509000000000000" pitchFamily="65" charset="-120"/>
                <a:ea typeface="標楷體" panose="03000509000000000000" pitchFamily="65" charset="-120"/>
              </a:rPr>
              <a:t>小時，並記錄它們在</a:t>
            </a:r>
            <a:r>
              <a:rPr lang="zh-TW" altLang="en-US" sz="2000" dirty="0" smtClean="0">
                <a:solidFill>
                  <a:schemeClr val="tx1"/>
                </a:solidFill>
                <a:latin typeface="標楷體" panose="03000509000000000000" pitchFamily="65" charset="-120"/>
                <a:ea typeface="標楷體" panose="03000509000000000000" pitchFamily="65" charset="-120"/>
              </a:rPr>
              <a:t>離水時</a:t>
            </a:r>
            <a:r>
              <a:rPr lang="zh-TW" altLang="en-US" sz="2000" dirty="0">
                <a:solidFill>
                  <a:schemeClr val="tx1"/>
                </a:solidFill>
                <a:latin typeface="標楷體" panose="03000509000000000000" pitchFamily="65" charset="-120"/>
                <a:ea typeface="標楷體" panose="03000509000000000000" pitchFamily="65" charset="-120"/>
              </a:rPr>
              <a:t>是否產卵（即釋放配子），或在放回水中時是否產卵，以及它們是否漂浮。在空氣暴露期結束時，評估了 </a:t>
            </a:r>
            <a:r>
              <a:rPr lang="en-US" altLang="zh-TW" sz="2000" i="1" dirty="0">
                <a:solidFill>
                  <a:schemeClr val="tx1"/>
                </a:solidFill>
                <a:latin typeface="標楷體" panose="03000509000000000000" pitchFamily="65" charset="-120"/>
                <a:ea typeface="標楷體" panose="03000509000000000000" pitchFamily="65" charset="-120"/>
              </a:rPr>
              <a:t>T. </a:t>
            </a:r>
            <a:r>
              <a:rPr lang="en-US" altLang="zh-TW" sz="2000" i="1" dirty="0" err="1">
                <a:solidFill>
                  <a:schemeClr val="tx1"/>
                </a:solidFill>
                <a:latin typeface="標楷體" panose="03000509000000000000" pitchFamily="65" charset="-120"/>
                <a:ea typeface="標楷體" panose="03000509000000000000" pitchFamily="65" charset="-120"/>
              </a:rPr>
              <a:t>gratilla</a:t>
            </a:r>
            <a:r>
              <a:rPr lang="en-US" altLang="zh-TW" sz="2000" i="1"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和 </a:t>
            </a:r>
            <a:r>
              <a:rPr lang="en-US" altLang="zh-TW" sz="2000" i="1" dirty="0">
                <a:solidFill>
                  <a:schemeClr val="tx1"/>
                </a:solidFill>
                <a:latin typeface="標楷體" panose="03000509000000000000" pitchFamily="65" charset="-120"/>
                <a:ea typeface="標楷體" panose="03000509000000000000" pitchFamily="65" charset="-120"/>
              </a:rPr>
              <a:t>H. </a:t>
            </a:r>
            <a:r>
              <a:rPr lang="en-US" altLang="zh-TW" sz="2000" i="1" dirty="0" err="1">
                <a:solidFill>
                  <a:schemeClr val="tx1"/>
                </a:solidFill>
                <a:latin typeface="標楷體" panose="03000509000000000000" pitchFamily="65" charset="-120"/>
                <a:ea typeface="標楷體" panose="03000509000000000000" pitchFamily="65" charset="-120"/>
              </a:rPr>
              <a:t>erythrogramma</a:t>
            </a:r>
            <a:r>
              <a:rPr lang="en-US" altLang="zh-TW" sz="2000" i="1"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的死亡率，並隨後進行了 </a:t>
            </a:r>
            <a:r>
              <a:rPr lang="en-US" altLang="zh-TW" sz="2000" dirty="0">
                <a:solidFill>
                  <a:schemeClr val="tx1"/>
                </a:solidFill>
                <a:latin typeface="標楷體" panose="03000509000000000000" pitchFamily="65" charset="-120"/>
                <a:ea typeface="標楷體" panose="03000509000000000000" pitchFamily="65" charset="-120"/>
              </a:rPr>
              <a:t>15 </a:t>
            </a:r>
            <a:r>
              <a:rPr lang="zh-TW" altLang="en-US" sz="2000" dirty="0">
                <a:solidFill>
                  <a:schemeClr val="tx1"/>
                </a:solidFill>
                <a:latin typeface="標楷體" panose="03000509000000000000" pitchFamily="65" charset="-120"/>
                <a:ea typeface="標楷體" panose="03000509000000000000" pitchFamily="65" charset="-120"/>
              </a:rPr>
              <a:t>天的觀察。如果海膽沒有表現出任何運動，棘刺下垂，並且無法在 </a:t>
            </a:r>
            <a:r>
              <a:rPr lang="en-US" altLang="zh-TW" sz="2000" dirty="0">
                <a:solidFill>
                  <a:schemeClr val="tx1"/>
                </a:solidFill>
                <a:latin typeface="標楷體" panose="03000509000000000000" pitchFamily="65" charset="-120"/>
                <a:ea typeface="標楷體" panose="03000509000000000000" pitchFamily="65" charset="-120"/>
              </a:rPr>
              <a:t>900 </a:t>
            </a:r>
            <a:r>
              <a:rPr lang="zh-TW" altLang="en-US" sz="2000" dirty="0">
                <a:solidFill>
                  <a:schemeClr val="tx1"/>
                </a:solidFill>
                <a:latin typeface="標楷體" panose="03000509000000000000" pitchFamily="65" charset="-120"/>
                <a:ea typeface="標楷體" panose="03000509000000000000" pitchFamily="65" charset="-120"/>
              </a:rPr>
              <a:t>秒內恢復平衡，則根據 </a:t>
            </a:r>
            <a:r>
              <a:rPr lang="en-US" altLang="zh-TW" sz="2000" dirty="0" err="1">
                <a:solidFill>
                  <a:schemeClr val="tx1"/>
                </a:solidFill>
                <a:latin typeface="標楷體" panose="03000509000000000000" pitchFamily="65" charset="-120"/>
                <a:ea typeface="標楷體" panose="03000509000000000000" pitchFamily="65" charset="-120"/>
              </a:rPr>
              <a:t>Lares</a:t>
            </a:r>
            <a:r>
              <a:rPr lang="en-US" altLang="zh-TW" sz="2000"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和 </a:t>
            </a:r>
            <a:r>
              <a:rPr lang="en-US" altLang="zh-TW" sz="2000" dirty="0">
                <a:solidFill>
                  <a:schemeClr val="tx1"/>
                </a:solidFill>
                <a:latin typeface="標楷體" panose="03000509000000000000" pitchFamily="65" charset="-120"/>
                <a:ea typeface="標楷體" panose="03000509000000000000" pitchFamily="65" charset="-120"/>
              </a:rPr>
              <a:t>McClintock (1991) </a:t>
            </a:r>
            <a:r>
              <a:rPr lang="zh-TW" altLang="en-US" sz="2000" dirty="0">
                <a:solidFill>
                  <a:schemeClr val="tx1"/>
                </a:solidFill>
                <a:latin typeface="標楷體" panose="03000509000000000000" pitchFamily="65" charset="-120"/>
                <a:ea typeface="標楷體" panose="03000509000000000000" pitchFamily="65" charset="-120"/>
              </a:rPr>
              <a:t>的方法，將其判定為死亡。總死亡率以百分比表示，計算方法為：存活動物的數量除以每個處理組的初始重複海膽數量，再乘以 </a:t>
            </a:r>
            <a:r>
              <a:rPr lang="en-US" altLang="zh-TW" sz="2000" dirty="0">
                <a:solidFill>
                  <a:schemeClr val="tx1"/>
                </a:solidFill>
                <a:latin typeface="標楷體" panose="03000509000000000000" pitchFamily="65" charset="-120"/>
                <a:ea typeface="標楷體" panose="03000509000000000000" pitchFamily="65" charset="-120"/>
              </a:rPr>
              <a:t>100</a:t>
            </a:r>
            <a:r>
              <a:rPr lang="zh-TW" altLang="en-US" sz="2000" dirty="0">
                <a:solidFill>
                  <a:schemeClr val="tx1"/>
                </a:solidFill>
                <a:latin typeface="標楷體" panose="03000509000000000000" pitchFamily="65" charset="-120"/>
                <a:ea typeface="標楷體" panose="03000509000000000000" pitchFamily="65" charset="-120"/>
              </a:rPr>
              <a:t>。在實驗開始時，即海膽被放回水中 </a:t>
            </a:r>
            <a:r>
              <a:rPr lang="en-US" altLang="zh-TW" sz="2000" dirty="0">
                <a:solidFill>
                  <a:schemeClr val="tx1"/>
                </a:solidFill>
                <a:latin typeface="標楷體" panose="03000509000000000000" pitchFamily="65" charset="-120"/>
                <a:ea typeface="標楷體" panose="03000509000000000000" pitchFamily="65" charset="-120"/>
              </a:rPr>
              <a:t>3 </a:t>
            </a:r>
            <a:r>
              <a:rPr lang="zh-TW" altLang="en-US" sz="2000" dirty="0">
                <a:solidFill>
                  <a:schemeClr val="tx1"/>
                </a:solidFill>
                <a:latin typeface="標楷體" panose="03000509000000000000" pitchFamily="65" charset="-120"/>
                <a:ea typeface="標楷體" panose="03000509000000000000" pitchFamily="65" charset="-120"/>
              </a:rPr>
              <a:t>小時後，評估其翻正行為，之後每 </a:t>
            </a:r>
            <a:r>
              <a:rPr lang="en-US" altLang="zh-TW" sz="2000" dirty="0">
                <a:solidFill>
                  <a:schemeClr val="tx1"/>
                </a:solidFill>
                <a:latin typeface="標楷體" panose="03000509000000000000" pitchFamily="65" charset="-120"/>
                <a:ea typeface="標楷體" panose="03000509000000000000" pitchFamily="65" charset="-120"/>
              </a:rPr>
              <a:t>4 </a:t>
            </a:r>
            <a:r>
              <a:rPr lang="zh-TW" altLang="en-US" sz="2000" dirty="0">
                <a:solidFill>
                  <a:schemeClr val="tx1"/>
                </a:solidFill>
                <a:latin typeface="標楷體" panose="03000509000000000000" pitchFamily="65" charset="-120"/>
                <a:ea typeface="標楷體" panose="03000509000000000000" pitchFamily="65" charset="-120"/>
              </a:rPr>
              <a:t>天評估一次，直至第 </a:t>
            </a:r>
            <a:r>
              <a:rPr lang="en-US" altLang="zh-TW" sz="2000" dirty="0">
                <a:solidFill>
                  <a:schemeClr val="tx1"/>
                </a:solidFill>
                <a:latin typeface="標楷體" panose="03000509000000000000" pitchFamily="65" charset="-120"/>
                <a:ea typeface="標楷體" panose="03000509000000000000" pitchFamily="65" charset="-120"/>
              </a:rPr>
              <a:t>15 </a:t>
            </a:r>
            <a:r>
              <a:rPr lang="zh-TW" altLang="en-US" sz="2000" dirty="0">
                <a:solidFill>
                  <a:schemeClr val="tx1"/>
                </a:solidFill>
                <a:latin typeface="標楷體" panose="03000509000000000000" pitchFamily="65" charset="-120"/>
                <a:ea typeface="標楷體" panose="03000509000000000000" pitchFamily="65" charset="-120"/>
              </a:rPr>
              <a:t>天，評估方法遵循標準流程（</a:t>
            </a:r>
            <a:r>
              <a:rPr lang="en-US" altLang="zh-TW" sz="2000" dirty="0">
                <a:solidFill>
                  <a:schemeClr val="tx1"/>
                </a:solidFill>
                <a:latin typeface="標楷體" panose="03000509000000000000" pitchFamily="65" charset="-120"/>
                <a:ea typeface="標楷體" panose="03000509000000000000" pitchFamily="65" charset="-120"/>
              </a:rPr>
              <a:t>Brothers </a:t>
            </a:r>
            <a:r>
              <a:rPr lang="zh-TW" altLang="en-US" sz="2000" dirty="0">
                <a:solidFill>
                  <a:schemeClr val="tx1"/>
                </a:solidFill>
                <a:latin typeface="標楷體" panose="03000509000000000000" pitchFamily="65" charset="-120"/>
                <a:ea typeface="標楷體" panose="03000509000000000000" pitchFamily="65" charset="-120"/>
              </a:rPr>
              <a:t>和 </a:t>
            </a:r>
            <a:r>
              <a:rPr lang="en-US" altLang="zh-TW" sz="2000" dirty="0">
                <a:solidFill>
                  <a:schemeClr val="tx1"/>
                </a:solidFill>
                <a:latin typeface="標楷體" panose="03000509000000000000" pitchFamily="65" charset="-120"/>
                <a:ea typeface="標楷體" panose="03000509000000000000" pitchFamily="65" charset="-120"/>
              </a:rPr>
              <a:t>McClintock</a:t>
            </a:r>
            <a:r>
              <a:rPr lang="zh-TW" altLang="en-US" sz="2000" dirty="0">
                <a:solidFill>
                  <a:schemeClr val="tx1"/>
                </a:solidFill>
                <a:latin typeface="標楷體" panose="03000509000000000000" pitchFamily="65" charset="-120"/>
                <a:ea typeface="標楷體" panose="03000509000000000000" pitchFamily="65" charset="-120"/>
              </a:rPr>
              <a:t>，</a:t>
            </a:r>
            <a:r>
              <a:rPr lang="en-US" altLang="zh-TW" sz="2000" dirty="0">
                <a:solidFill>
                  <a:schemeClr val="tx1"/>
                </a:solidFill>
                <a:latin typeface="標楷體" panose="03000509000000000000" pitchFamily="65" charset="-120"/>
                <a:ea typeface="標楷體" panose="03000509000000000000" pitchFamily="65" charset="-120"/>
              </a:rPr>
              <a:t>2015</a:t>
            </a:r>
            <a:r>
              <a:rPr lang="zh-TW" altLang="en-US" sz="2000" dirty="0">
                <a:solidFill>
                  <a:schemeClr val="tx1"/>
                </a:solidFill>
                <a:latin typeface="標楷體" panose="03000509000000000000" pitchFamily="65" charset="-120"/>
                <a:ea typeface="標楷體" panose="03000509000000000000" pitchFamily="65" charset="-120"/>
              </a:rPr>
              <a:t>；</a:t>
            </a:r>
            <a:r>
              <a:rPr lang="en-US" altLang="zh-TW" sz="2000" dirty="0" err="1">
                <a:solidFill>
                  <a:schemeClr val="tx1"/>
                </a:solidFill>
                <a:latin typeface="標楷體" panose="03000509000000000000" pitchFamily="65" charset="-120"/>
                <a:ea typeface="標楷體" panose="03000509000000000000" pitchFamily="65" charset="-120"/>
              </a:rPr>
              <a:t>Challener</a:t>
            </a:r>
            <a:r>
              <a:rPr lang="en-US" altLang="zh-TW" sz="2000" dirty="0">
                <a:solidFill>
                  <a:schemeClr val="tx1"/>
                </a:solidFill>
                <a:latin typeface="標楷體" panose="03000509000000000000" pitchFamily="65" charset="-120"/>
                <a:ea typeface="標楷體" panose="03000509000000000000" pitchFamily="65" charset="-120"/>
              </a:rPr>
              <a:t> </a:t>
            </a:r>
            <a:r>
              <a:rPr lang="zh-TW" altLang="en-US" sz="2000" dirty="0">
                <a:solidFill>
                  <a:schemeClr val="tx1"/>
                </a:solidFill>
                <a:latin typeface="標楷體" panose="03000509000000000000" pitchFamily="65" charset="-120"/>
                <a:ea typeface="標楷體" panose="03000509000000000000" pitchFamily="65" charset="-120"/>
              </a:rPr>
              <a:t>和 </a:t>
            </a:r>
            <a:r>
              <a:rPr lang="en-US" altLang="zh-TW" sz="2000" dirty="0">
                <a:solidFill>
                  <a:schemeClr val="tx1"/>
                </a:solidFill>
                <a:latin typeface="標楷體" panose="03000509000000000000" pitchFamily="65" charset="-120"/>
                <a:ea typeface="標楷體" panose="03000509000000000000" pitchFamily="65" charset="-120"/>
              </a:rPr>
              <a:t>McClintock</a:t>
            </a:r>
            <a:r>
              <a:rPr lang="zh-TW" altLang="en-US" sz="2000" dirty="0">
                <a:solidFill>
                  <a:schemeClr val="tx1"/>
                </a:solidFill>
                <a:latin typeface="標楷體" panose="03000509000000000000" pitchFamily="65" charset="-120"/>
                <a:ea typeface="標楷體" panose="03000509000000000000" pitchFamily="65" charset="-120"/>
              </a:rPr>
              <a:t>，</a:t>
            </a:r>
            <a:r>
              <a:rPr lang="en-US" altLang="zh-TW" sz="2000" dirty="0">
                <a:solidFill>
                  <a:schemeClr val="tx1"/>
                </a:solidFill>
                <a:latin typeface="標楷體" panose="03000509000000000000" pitchFamily="65" charset="-120"/>
                <a:ea typeface="標楷體" panose="03000509000000000000" pitchFamily="65" charset="-120"/>
              </a:rPr>
              <a:t>2013</a:t>
            </a:r>
            <a:r>
              <a:rPr lang="zh-TW" altLang="en-US" sz="2000" dirty="0">
                <a:solidFill>
                  <a:schemeClr val="tx1"/>
                </a:solidFill>
                <a:latin typeface="標楷體" panose="03000509000000000000" pitchFamily="65" charset="-120"/>
                <a:ea typeface="標楷體" panose="03000509000000000000" pitchFamily="65" charset="-120"/>
              </a:rPr>
              <a:t>）。翻正行為被記錄為翻正成功率（</a:t>
            </a:r>
            <a:r>
              <a:rPr lang="en-US" altLang="zh-TW" sz="2000" dirty="0">
                <a:solidFill>
                  <a:schemeClr val="tx1"/>
                </a:solidFill>
                <a:latin typeface="標楷體" panose="03000509000000000000" pitchFamily="65" charset="-120"/>
                <a:ea typeface="標楷體" panose="03000509000000000000" pitchFamily="65" charset="-120"/>
              </a:rPr>
              <a:t>900</a:t>
            </a:r>
            <a:r>
              <a:rPr lang="zh-TW" altLang="en-US" sz="2000" dirty="0">
                <a:solidFill>
                  <a:schemeClr val="tx1"/>
                </a:solidFill>
                <a:latin typeface="標楷體" panose="03000509000000000000" pitchFamily="65" charset="-120"/>
                <a:ea typeface="標楷體" panose="03000509000000000000" pitchFamily="65" charset="-120"/>
              </a:rPr>
              <a:t>秒內能否翻正）和翻正時間（海膽翻轉後重新調整方向所需的時間）。存活但</a:t>
            </a:r>
            <a:r>
              <a:rPr lang="en-US" altLang="zh-TW" sz="2000" dirty="0">
                <a:solidFill>
                  <a:schemeClr val="tx1"/>
                </a:solidFill>
                <a:latin typeface="標楷體" panose="03000509000000000000" pitchFamily="65" charset="-120"/>
                <a:ea typeface="標楷體" panose="03000509000000000000" pitchFamily="65" charset="-120"/>
              </a:rPr>
              <a:t>900</a:t>
            </a:r>
            <a:r>
              <a:rPr lang="zh-TW" altLang="en-US" sz="2000" dirty="0">
                <a:solidFill>
                  <a:schemeClr val="tx1"/>
                </a:solidFill>
                <a:latin typeface="標楷體" panose="03000509000000000000" pitchFamily="65" charset="-120"/>
                <a:ea typeface="標楷體" panose="03000509000000000000" pitchFamily="65" charset="-120"/>
              </a:rPr>
              <a:t>秒後仍無法重新調整方向的海膽，其翻正時間記為</a:t>
            </a:r>
            <a:r>
              <a:rPr lang="en-US" altLang="zh-TW" sz="2000" dirty="0">
                <a:solidFill>
                  <a:schemeClr val="tx1"/>
                </a:solidFill>
                <a:latin typeface="標楷體" panose="03000509000000000000" pitchFamily="65" charset="-120"/>
                <a:ea typeface="標楷體" panose="03000509000000000000" pitchFamily="65" charset="-120"/>
              </a:rPr>
              <a:t>900</a:t>
            </a:r>
            <a:r>
              <a:rPr lang="zh-TW" altLang="en-US" sz="2000" dirty="0">
                <a:solidFill>
                  <a:schemeClr val="tx1"/>
                </a:solidFill>
                <a:latin typeface="標楷體" panose="03000509000000000000" pitchFamily="65" charset="-120"/>
                <a:ea typeface="標楷體" panose="03000509000000000000" pitchFamily="65" charset="-120"/>
              </a:rPr>
              <a:t>秒。 </a:t>
            </a:r>
          </a:p>
        </p:txBody>
      </p:sp>
      <p:sp>
        <p:nvSpPr>
          <p:cNvPr id="3" name="內容版面配置區 2"/>
          <p:cNvSpPr>
            <a:spLocks noGrp="1"/>
          </p:cNvSpPr>
          <p:nvPr>
            <p:ph idx="1"/>
          </p:nvPr>
        </p:nvSpPr>
        <p:spPr>
          <a:xfrm>
            <a:off x="2884473" y="6639339"/>
            <a:ext cx="8915400" cy="3777622"/>
          </a:xfrm>
        </p:spPr>
        <p:txBody>
          <a:bodyPr/>
          <a:lstStyle/>
          <a:p>
            <a:endParaRPr lang="zh-TW" altLang="en-US" dirty="0"/>
          </a:p>
        </p:txBody>
      </p:sp>
    </p:spTree>
    <p:extLst>
      <p:ext uri="{BB962C8B-B14F-4D97-AF65-F5344CB8AC3E}">
        <p14:creationId xmlns:p14="http://schemas.microsoft.com/office/powerpoint/2010/main" val="175556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248369" y="583096"/>
            <a:ext cx="8915400" cy="3777622"/>
          </a:xfrm>
        </p:spPr>
        <p:txBody>
          <a:bodyPr>
            <a:noAutofit/>
          </a:bodyPr>
          <a:lstStyle/>
          <a:p>
            <a:r>
              <a:rPr lang="zh-TW" altLang="en-US" dirty="0">
                <a:latin typeface="標楷體" panose="03000509000000000000" pitchFamily="65" charset="-120"/>
                <a:ea typeface="標楷體" panose="03000509000000000000" pitchFamily="65" charset="-120"/>
              </a:rPr>
              <a:t>海膽在空氣暴露時間</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空氣溫度實驗中的死亡率和適應性可能受到密封容器內環境的影響。例如，觀察到海膽分泌的任何液體都會聚集在其殼下，這種液體可能會影響濕度或抑制乾燥。為了解海膽在離開水面時的保存條件是否會影響其死亡率、濕重和翻正能力，將</a:t>
            </a:r>
            <a:r>
              <a:rPr lang="en-US" altLang="zh-TW" dirty="0">
                <a:latin typeface="標楷體" panose="03000509000000000000" pitchFamily="65" charset="-120"/>
                <a:ea typeface="標楷體" panose="03000509000000000000" pitchFamily="65" charset="-120"/>
              </a:rPr>
              <a:t>40</a:t>
            </a:r>
            <a:r>
              <a:rPr lang="zh-TW" altLang="en-US" dirty="0">
                <a:latin typeface="標楷體" panose="03000509000000000000" pitchFamily="65" charset="-120"/>
                <a:ea typeface="標楷體" panose="03000509000000000000" pitchFamily="65" charset="-120"/>
              </a:rPr>
              <a:t>隻</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zh-TW" altLang="en-US" dirty="0">
                <a:latin typeface="標楷體" panose="03000509000000000000" pitchFamily="65" charset="-120"/>
                <a:ea typeface="標楷體" panose="03000509000000000000" pitchFamily="65" charset="-120"/>
              </a:rPr>
              <a:t>隨機分配到四種包裝處理組之一；所有暴露類型（開放式容器與封閉式容器）和排水方式（</a:t>
            </a:r>
            <a:r>
              <a:rPr lang="zh-TW" altLang="en-US" dirty="0" smtClean="0">
                <a:latin typeface="標楷體" panose="03000509000000000000" pitchFamily="65" charset="-120"/>
                <a:ea typeface="標楷體" panose="03000509000000000000" pitchFamily="65" charset="-120"/>
              </a:rPr>
              <a:t>排積水</a:t>
            </a:r>
            <a:r>
              <a:rPr lang="zh-TW" altLang="en-US" dirty="0">
                <a:latin typeface="標楷體" panose="03000509000000000000" pitchFamily="65" charset="-120"/>
                <a:ea typeface="標楷體" panose="03000509000000000000" pitchFamily="65" charset="-120"/>
              </a:rPr>
              <a:t>容器與未排水容器）的組合。每種處理組包含</a:t>
            </a:r>
            <a:r>
              <a:rPr lang="en-US" altLang="zh-TW" dirty="0">
                <a:latin typeface="標楷體" panose="03000509000000000000" pitchFamily="65" charset="-120"/>
                <a:ea typeface="標楷體" panose="03000509000000000000" pitchFamily="65" charset="-120"/>
              </a:rPr>
              <a:t>10</a:t>
            </a:r>
            <a:r>
              <a:rPr lang="zh-TW" altLang="en-US" dirty="0">
                <a:latin typeface="標楷體" panose="03000509000000000000" pitchFamily="65" charset="-120"/>
                <a:ea typeface="標楷體" panose="03000509000000000000" pitchFamily="65" charset="-120"/>
              </a:rPr>
              <a:t>隻重複海膽</a:t>
            </a:r>
            <a:r>
              <a:rPr lang="zh-TW" altLang="en-US" dirty="0" smtClean="0">
                <a:latin typeface="標楷體" panose="03000509000000000000" pitchFamily="65" charset="-120"/>
                <a:ea typeface="標楷體" panose="03000509000000000000" pitchFamily="65" charset="-120"/>
              </a:rPr>
              <a:t>。實驗開始時，</a:t>
            </a:r>
            <a:r>
              <a:rPr lang="zh-TW" altLang="en-US" dirty="0">
                <a:latin typeface="標楷體" panose="03000509000000000000" pitchFamily="65" charset="-120"/>
                <a:ea typeface="標楷體" panose="03000509000000000000" pitchFamily="65" charset="-120"/>
              </a:rPr>
              <a:t>依照先前描述的</a:t>
            </a:r>
            <a:r>
              <a:rPr lang="zh-TW" altLang="en-US" dirty="0" smtClean="0">
                <a:latin typeface="標楷體" panose="03000509000000000000" pitchFamily="65" charset="-120"/>
                <a:ea typeface="標楷體" panose="03000509000000000000" pitchFamily="65" charset="-120"/>
              </a:rPr>
              <a:t>方法測量</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zh-TW" altLang="en-US" dirty="0">
                <a:latin typeface="標楷體" panose="03000509000000000000" pitchFamily="65" charset="-120"/>
                <a:ea typeface="標楷體" panose="03000509000000000000" pitchFamily="65" charset="-120"/>
              </a:rPr>
              <a:t>的初始濕重和體長。海膽（平均重量 </a:t>
            </a:r>
            <a:r>
              <a:rPr lang="en-US" altLang="zh-TW" dirty="0">
                <a:latin typeface="標楷體" panose="03000509000000000000" pitchFamily="65" charset="-120"/>
                <a:ea typeface="標楷體" panose="03000509000000000000" pitchFamily="65" charset="-120"/>
              </a:rPr>
              <a:t>WW = 217.5 g ± 11.3 SE</a:t>
            </a:r>
            <a:r>
              <a:rPr lang="zh-TW" altLang="en-US" dirty="0">
                <a:latin typeface="標楷體" panose="03000509000000000000" pitchFamily="65" charset="-120"/>
                <a:ea typeface="標楷體" panose="03000509000000000000" pitchFamily="65" charset="-120"/>
              </a:rPr>
              <a:t>，平均體長 </a:t>
            </a:r>
            <a:r>
              <a:rPr lang="en-US" altLang="zh-TW" dirty="0">
                <a:latin typeface="標楷體" panose="03000509000000000000" pitchFamily="65" charset="-120"/>
                <a:ea typeface="標楷體" panose="03000509000000000000" pitchFamily="65" charset="-120"/>
              </a:rPr>
              <a:t>TD = 80.5 mm ± 1.3 SE</a:t>
            </a:r>
            <a:r>
              <a:rPr lang="zh-TW" altLang="en-US" dirty="0">
                <a:latin typeface="標楷體" panose="03000509000000000000" pitchFamily="65" charset="-120"/>
                <a:ea typeface="標楷體" panose="03000509000000000000" pitchFamily="65" charset="-120"/>
              </a:rPr>
              <a:t>）被單獨放入食品級圓柱形聚丙烯容器（直徑 </a:t>
            </a:r>
            <a:r>
              <a:rPr lang="en-US" altLang="zh-TW" dirty="0">
                <a:latin typeface="標楷體" panose="03000509000000000000" pitchFamily="65" charset="-120"/>
                <a:ea typeface="標楷體" panose="03000509000000000000" pitchFamily="65" charset="-120"/>
              </a:rPr>
              <a:t>11.5 cm × </a:t>
            </a:r>
            <a:r>
              <a:rPr lang="zh-TW" altLang="en-US" dirty="0">
                <a:latin typeface="標楷體" panose="03000509000000000000" pitchFamily="65" charset="-120"/>
                <a:ea typeface="標楷體" panose="03000509000000000000" pitchFamily="65" charset="-120"/>
              </a:rPr>
              <a:t>高 </a:t>
            </a:r>
            <a:r>
              <a:rPr lang="en-US" altLang="zh-TW" dirty="0">
                <a:latin typeface="標楷體" panose="03000509000000000000" pitchFamily="65" charset="-120"/>
                <a:ea typeface="標楷體" panose="03000509000000000000" pitchFamily="65" charset="-120"/>
              </a:rPr>
              <a:t>8.5 cm</a:t>
            </a:r>
            <a:r>
              <a:rPr lang="zh-TW" altLang="en-US" dirty="0">
                <a:latin typeface="標楷體" panose="03000509000000000000" pitchFamily="65" charset="-120"/>
                <a:ea typeface="標楷體" panose="03000509000000000000" pitchFamily="65" charset="-120"/>
              </a:rPr>
              <a:t>）中，容器以配套的聚丙烯蓋（密封處理）或未加蓋（密封處理）。 「排水」處理的容器底部開有約 </a:t>
            </a:r>
            <a:r>
              <a:rPr lang="en-US" altLang="zh-TW" dirty="0">
                <a:latin typeface="標楷體" panose="03000509000000000000" pitchFamily="65" charset="-120"/>
                <a:ea typeface="標楷體" panose="03000509000000000000" pitchFamily="65" charset="-120"/>
              </a:rPr>
              <a:t>75 × 2 mm </a:t>
            </a:r>
            <a:r>
              <a:rPr lang="zh-TW" altLang="en-US" dirty="0">
                <a:latin typeface="標楷體" panose="03000509000000000000" pitchFamily="65" charset="-120"/>
                <a:ea typeface="標楷體" panose="03000509000000000000" pitchFamily="65" charset="-120"/>
              </a:rPr>
              <a:t>的槽，使海膽分泌的液體能夠流入下方嵌套的另一個容器中。 「未排水」處理的容器未做任何改造；海膽因此浸泡在自身分泌的液體中。將容器置於溫度控制櫃 </a:t>
            </a:r>
            <a:r>
              <a:rPr lang="en-US" altLang="zh-TW" dirty="0">
                <a:latin typeface="標楷體" panose="03000509000000000000" pitchFamily="65" charset="-120"/>
                <a:ea typeface="標楷體" panose="03000509000000000000" pitchFamily="65" charset="-120"/>
              </a:rPr>
              <a:t>12 </a:t>
            </a:r>
            <a:r>
              <a:rPr lang="zh-TW" altLang="en-US" dirty="0">
                <a:latin typeface="標楷體" panose="03000509000000000000" pitchFamily="65" charset="-120"/>
                <a:ea typeface="標楷體" panose="03000509000000000000" pitchFamily="65" charset="-120"/>
              </a:rPr>
              <a:t>小時，空氣溫度為</a:t>
            </a:r>
            <a:r>
              <a:rPr lang="en-US" altLang="zh-TW" dirty="0">
                <a:latin typeface="標楷體" panose="03000509000000000000" pitchFamily="65" charset="-120"/>
                <a:ea typeface="標楷體" panose="03000509000000000000" pitchFamily="65" charset="-120"/>
              </a:rPr>
              <a:t>28.6℃ ± 0.9 SD</a:t>
            </a:r>
            <a:r>
              <a:rPr lang="zh-TW" altLang="en-US" dirty="0">
                <a:latin typeface="標楷體" panose="03000509000000000000" pitchFamily="65" charset="-120"/>
                <a:ea typeface="標楷體" panose="03000509000000000000" pitchFamily="65" charset="-120"/>
              </a:rPr>
              <a:t>（</a:t>
            </a:r>
            <a:r>
              <a:rPr lang="en-US" altLang="zh-TW" dirty="0" err="1">
                <a:latin typeface="標楷體" panose="03000509000000000000" pitchFamily="65" charset="-120"/>
                <a:ea typeface="標楷體" panose="03000509000000000000" pitchFamily="65" charset="-120"/>
              </a:rPr>
              <a:t>Thermodata</a:t>
            </a:r>
            <a:r>
              <a:rPr lang="en-US" altLang="zh-TW" dirty="0">
                <a:latin typeface="標楷體" panose="03000509000000000000" pitchFamily="65" charset="-120"/>
                <a:ea typeface="標楷體" panose="03000509000000000000" pitchFamily="65" charset="-120"/>
              </a:rPr>
              <a:t> </a:t>
            </a:r>
            <a:r>
              <a:rPr lang="en-US" altLang="zh-TW" dirty="0" err="1">
                <a:latin typeface="標楷體" panose="03000509000000000000" pitchFamily="65" charset="-120"/>
                <a:ea typeface="標楷體" panose="03000509000000000000" pitchFamily="65" charset="-120"/>
              </a:rPr>
              <a:t>IBCod</a:t>
            </a:r>
            <a:r>
              <a:rPr lang="en-US" altLang="zh-TW" dirty="0">
                <a:latin typeface="標楷體" panose="03000509000000000000" pitchFamily="65" charset="-120"/>
                <a:ea typeface="標楷體" panose="03000509000000000000" pitchFamily="65" charset="-120"/>
              </a:rPr>
              <a:t> 22L</a:t>
            </a:r>
            <a:r>
              <a:rPr lang="zh-TW" altLang="en-US" dirty="0">
                <a:latin typeface="標楷體" panose="03000509000000000000" pitchFamily="65" charset="-120"/>
                <a:ea typeface="標楷體" panose="03000509000000000000" pitchFamily="65" charset="-120"/>
              </a:rPr>
              <a:t>），之後對 </a:t>
            </a:r>
            <a:r>
              <a:rPr lang="en-US" altLang="zh-TW" i="1" dirty="0">
                <a:latin typeface="標楷體" panose="03000509000000000000" pitchFamily="65" charset="-120"/>
                <a:ea typeface="標楷體" panose="03000509000000000000" pitchFamily="65" charset="-120"/>
              </a:rPr>
              <a:t>T. </a:t>
            </a:r>
            <a:r>
              <a:rPr lang="en-US" altLang="zh-TW" i="1" dirty="0" err="1">
                <a:latin typeface="標楷體" panose="03000509000000000000" pitchFamily="65" charset="-120"/>
                <a:ea typeface="標楷體" panose="03000509000000000000" pitchFamily="65" charset="-120"/>
              </a:rPr>
              <a:t>gratilla</a:t>
            </a:r>
            <a:r>
              <a:rPr lang="en-US" altLang="zh-TW" i="1"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進行重新稱重，並將其放回食品級聚丙烯容器（直徑 </a:t>
            </a:r>
            <a:r>
              <a:rPr lang="en-US" altLang="zh-TW" dirty="0">
                <a:latin typeface="標楷體" panose="03000509000000000000" pitchFamily="65" charset="-120"/>
                <a:ea typeface="標楷體" panose="03000509000000000000" pitchFamily="65" charset="-120"/>
              </a:rPr>
              <a:t>12.5 cm × </a:t>
            </a:r>
            <a:r>
              <a:rPr lang="zh-TW" altLang="en-US" dirty="0">
                <a:latin typeface="標楷體" panose="03000509000000000000" pitchFamily="65" charset="-120"/>
                <a:ea typeface="標楷體" panose="03000509000000000000" pitchFamily="65" charset="-120"/>
              </a:rPr>
              <a:t>高 </a:t>
            </a:r>
            <a:r>
              <a:rPr lang="en-US" altLang="zh-TW" dirty="0">
                <a:latin typeface="標楷體" panose="03000509000000000000" pitchFamily="65" charset="-120"/>
                <a:ea typeface="標楷體" panose="03000509000000000000" pitchFamily="65" charset="-120"/>
              </a:rPr>
              <a:t>9.5 cm</a:t>
            </a:r>
            <a:r>
              <a:rPr lang="zh-TW" altLang="en-US" dirty="0">
                <a:latin typeface="標楷體" panose="03000509000000000000" pitchFamily="65" charset="-120"/>
                <a:ea typeface="標楷體" panose="03000509000000000000" pitchFamily="65" charset="-120"/>
              </a:rPr>
              <a:t>，盛裝 </a:t>
            </a:r>
            <a:r>
              <a:rPr lang="en-US" altLang="zh-TW" dirty="0">
                <a:latin typeface="標楷體" panose="03000509000000000000" pitchFamily="65" charset="-120"/>
                <a:ea typeface="標楷體" panose="03000509000000000000" pitchFamily="65" charset="-120"/>
              </a:rPr>
              <a:t>1.0 L </a:t>
            </a:r>
            <a:r>
              <a:rPr lang="zh-TW" altLang="en-US" dirty="0">
                <a:latin typeface="標楷體" panose="03000509000000000000" pitchFamily="65" charset="-120"/>
                <a:ea typeface="標楷體" panose="03000509000000000000" pitchFamily="65" charset="-120"/>
              </a:rPr>
              <a:t>海水）中，置於先前描述的流通式海水系統中（平均溫度和鹽度：</a:t>
            </a:r>
            <a:r>
              <a:rPr lang="en-US" altLang="zh-TW" dirty="0">
                <a:latin typeface="標楷體" panose="03000509000000000000" pitchFamily="65" charset="-120"/>
                <a:ea typeface="標楷體" panose="03000509000000000000" pitchFamily="65" charset="-120"/>
              </a:rPr>
              <a:t>25.℃ ± 1.4 SD</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35.3 ± 0.3 SD</a:t>
            </a:r>
            <a:r>
              <a:rPr lang="zh-TW" altLang="en-US" dirty="0">
                <a:latin typeface="標楷體" panose="03000509000000000000" pitchFamily="65" charset="-120"/>
                <a:ea typeface="標楷體" panose="03000509000000000000" pitchFamily="65" charset="-120"/>
              </a:rPr>
              <a:t>）。依照先前描述的</a:t>
            </a:r>
            <a:r>
              <a:rPr lang="zh-TW" altLang="en-US" dirty="0" smtClean="0">
                <a:latin typeface="標楷體" panose="03000509000000000000" pitchFamily="65" charset="-120"/>
                <a:ea typeface="標楷體" panose="03000509000000000000" pitchFamily="65" charset="-120"/>
              </a:rPr>
              <a:t>方法測量</a:t>
            </a:r>
            <a:r>
              <a:rPr lang="zh-TW" altLang="en-US" dirty="0">
                <a:latin typeface="標楷體" panose="03000509000000000000" pitchFamily="65" charset="-120"/>
                <a:ea typeface="標楷體" panose="03000509000000000000" pitchFamily="65" charset="-120"/>
              </a:rPr>
              <a:t>質量損失率（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）、產卵發生率、漂浮發生率、死亡率和翻正行為。</a:t>
            </a:r>
          </a:p>
        </p:txBody>
      </p:sp>
    </p:spTree>
    <p:extLst>
      <p:ext uri="{BB962C8B-B14F-4D97-AF65-F5344CB8AC3E}">
        <p14:creationId xmlns:p14="http://schemas.microsoft.com/office/powerpoint/2010/main" val="3290169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15616" y="154968"/>
            <a:ext cx="8911687" cy="1280890"/>
          </a:xfrm>
        </p:spPr>
        <p:txBody>
          <a:bodyPr/>
          <a:lstStyle/>
          <a:p>
            <a:r>
              <a:rPr lang="zh-TW" altLang="en-US" dirty="0" smtClean="0">
                <a:solidFill>
                  <a:schemeClr val="tx1"/>
                </a:solidFill>
              </a:rPr>
              <a:t>實驗示意圖</a:t>
            </a:r>
            <a:endParaRPr lang="zh-TW" altLang="en-US" dirty="0">
              <a:solidFill>
                <a:schemeClr val="tx1"/>
              </a:solidFill>
            </a:endParaRPr>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1253" y="15874"/>
            <a:ext cx="9037982" cy="6842126"/>
          </a:xfrm>
        </p:spPr>
      </p:pic>
    </p:spTree>
    <p:extLst>
      <p:ext uri="{BB962C8B-B14F-4D97-AF65-F5344CB8AC3E}">
        <p14:creationId xmlns:p14="http://schemas.microsoft.com/office/powerpoint/2010/main" val="531850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51527" y="412076"/>
            <a:ext cx="9454989" cy="1872178"/>
          </a:xfrm>
        </p:spPr>
        <p:txBody>
          <a:bodyPr>
            <a:normAutofit/>
          </a:bodyPr>
          <a:lstStyle/>
          <a:p>
            <a:pPr algn="ctr"/>
            <a:r>
              <a:rPr lang="zh-TW" altLang="en-US" sz="2700" dirty="0" smtClean="0">
                <a:solidFill>
                  <a:schemeClr val="tx1"/>
                </a:solidFill>
                <a:latin typeface="標楷體" panose="03000509000000000000" pitchFamily="65" charset="-120"/>
                <a:ea typeface="標楷體" panose="03000509000000000000" pitchFamily="65" charset="-120"/>
              </a:rPr>
              <a:t>死亡率</a:t>
            </a:r>
            <a:r>
              <a:rPr lang="en-US" altLang="zh-TW" sz="1600" dirty="0" smtClean="0">
                <a:solidFill>
                  <a:schemeClr val="tx1"/>
                </a:solidFill>
              </a:rPr>
              <a:t/>
            </a:r>
            <a:br>
              <a:rPr lang="en-US" altLang="zh-TW" sz="1600" dirty="0" smtClean="0">
                <a:solidFill>
                  <a:schemeClr val="tx1"/>
                </a:solidFill>
              </a:rPr>
            </a:br>
            <a:r>
              <a:rPr lang="en-US" altLang="zh-TW" sz="1600" dirty="0">
                <a:solidFill>
                  <a:schemeClr val="tx1"/>
                </a:solidFill>
              </a:rPr>
              <a:t/>
            </a:r>
            <a:br>
              <a:rPr lang="en-US" altLang="zh-TW" sz="1600" dirty="0">
                <a:solidFill>
                  <a:schemeClr val="tx1"/>
                </a:solidFill>
              </a:rPr>
            </a:br>
            <a:r>
              <a:rPr lang="zh-TW" altLang="en-US" sz="1800" dirty="0" smtClean="0">
                <a:solidFill>
                  <a:schemeClr val="tx1"/>
                </a:solidFill>
                <a:latin typeface="標楷體" panose="03000509000000000000" pitchFamily="65" charset="-120"/>
                <a:ea typeface="標楷體" panose="03000509000000000000" pitchFamily="65" charset="-120"/>
              </a:rPr>
              <a:t>海膽</a:t>
            </a:r>
            <a:r>
              <a:rPr lang="zh-TW" altLang="en-US" sz="1800" dirty="0">
                <a:solidFill>
                  <a:schemeClr val="tx1"/>
                </a:solidFill>
                <a:latin typeface="標楷體" panose="03000509000000000000" pitchFamily="65" charset="-120"/>
                <a:ea typeface="標楷體" panose="03000509000000000000" pitchFamily="65" charset="-120"/>
              </a:rPr>
              <a:t>（</a:t>
            </a:r>
            <a:r>
              <a:rPr lang="en-US" altLang="zh-TW" sz="1800" i="1" dirty="0" err="1">
                <a:solidFill>
                  <a:schemeClr val="tx1"/>
                </a:solidFill>
                <a:latin typeface="標楷體" panose="03000509000000000000" pitchFamily="65" charset="-120"/>
                <a:ea typeface="標楷體" panose="03000509000000000000" pitchFamily="65" charset="-120"/>
              </a:rPr>
              <a:t>Tripneustes</a:t>
            </a:r>
            <a:r>
              <a:rPr lang="en-US" altLang="zh-TW" sz="1800" i="1" dirty="0">
                <a:solidFill>
                  <a:schemeClr val="tx1"/>
                </a:solidFill>
                <a:latin typeface="標楷體" panose="03000509000000000000" pitchFamily="65" charset="-120"/>
                <a:ea typeface="標楷體" panose="03000509000000000000" pitchFamily="65" charset="-120"/>
              </a:rPr>
              <a:t> </a:t>
            </a:r>
            <a:r>
              <a:rPr lang="en-US" altLang="zh-TW" sz="1800" i="1" dirty="0" err="1">
                <a:solidFill>
                  <a:schemeClr val="tx1"/>
                </a:solidFill>
                <a:latin typeface="標楷體" panose="03000509000000000000" pitchFamily="65" charset="-120"/>
                <a:ea typeface="標楷體" panose="03000509000000000000" pitchFamily="65" charset="-120"/>
              </a:rPr>
              <a:t>gratilla</a:t>
            </a:r>
            <a:r>
              <a:rPr lang="en-US" altLang="zh-TW" sz="1800" i="1" dirty="0">
                <a:solidFill>
                  <a:schemeClr val="tx1"/>
                </a:solidFill>
                <a:latin typeface="標楷體" panose="03000509000000000000" pitchFamily="65" charset="-120"/>
                <a:ea typeface="標楷體" panose="03000509000000000000" pitchFamily="65" charset="-120"/>
              </a:rPr>
              <a:t> </a:t>
            </a:r>
            <a:r>
              <a:rPr lang="zh-TW" altLang="en-US" sz="1800" dirty="0">
                <a:solidFill>
                  <a:schemeClr val="tx1"/>
                </a:solidFill>
                <a:latin typeface="標楷體" panose="03000509000000000000" pitchFamily="65" charset="-120"/>
                <a:ea typeface="標楷體" panose="03000509000000000000" pitchFamily="65" charset="-120"/>
              </a:rPr>
              <a:t>和 </a:t>
            </a:r>
            <a:r>
              <a:rPr lang="en-US" altLang="zh-TW" sz="1800" i="1" dirty="0" err="1">
                <a:solidFill>
                  <a:schemeClr val="tx1"/>
                </a:solidFill>
                <a:latin typeface="標楷體" panose="03000509000000000000" pitchFamily="65" charset="-120"/>
                <a:ea typeface="標楷體" panose="03000509000000000000" pitchFamily="65" charset="-120"/>
              </a:rPr>
              <a:t>Heliocidaris</a:t>
            </a:r>
            <a:r>
              <a:rPr lang="en-US" altLang="zh-TW" sz="1800" i="1" dirty="0">
                <a:solidFill>
                  <a:schemeClr val="tx1"/>
                </a:solidFill>
                <a:latin typeface="標楷體" panose="03000509000000000000" pitchFamily="65" charset="-120"/>
                <a:ea typeface="標楷體" panose="03000509000000000000" pitchFamily="65" charset="-120"/>
              </a:rPr>
              <a:t> </a:t>
            </a:r>
            <a:r>
              <a:rPr lang="en-US" altLang="zh-TW" sz="1800" i="1" dirty="0" err="1">
                <a:solidFill>
                  <a:schemeClr val="tx1"/>
                </a:solidFill>
                <a:latin typeface="標楷體" panose="03000509000000000000" pitchFamily="65" charset="-120"/>
                <a:ea typeface="標楷體" panose="03000509000000000000" pitchFamily="65" charset="-120"/>
              </a:rPr>
              <a:t>erythrogramma</a:t>
            </a:r>
            <a:r>
              <a:rPr lang="zh-TW" altLang="en-US" sz="1800" dirty="0">
                <a:solidFill>
                  <a:schemeClr val="tx1"/>
                </a:solidFill>
                <a:latin typeface="標楷體" panose="03000509000000000000" pitchFamily="65" charset="-120"/>
                <a:ea typeface="標楷體" panose="03000509000000000000" pitchFamily="65" charset="-120"/>
              </a:rPr>
              <a:t>）在三種不同氣溫處理（冷藏</a:t>
            </a:r>
            <a:r>
              <a:rPr lang="en-US" altLang="zh-TW" sz="1800" dirty="0">
                <a:solidFill>
                  <a:schemeClr val="tx1"/>
                </a:solidFill>
                <a:latin typeface="標楷體" panose="03000509000000000000" pitchFamily="65" charset="-120"/>
                <a:ea typeface="標楷體" panose="03000509000000000000" pitchFamily="65" charset="-120"/>
              </a:rPr>
              <a:t>~4℃</a:t>
            </a:r>
            <a:r>
              <a:rPr lang="zh-TW" altLang="en-US" sz="1800" dirty="0">
                <a:solidFill>
                  <a:schemeClr val="tx1"/>
                </a:solidFill>
                <a:latin typeface="標楷體" panose="03000509000000000000" pitchFamily="65" charset="-120"/>
                <a:ea typeface="標楷體" panose="03000509000000000000" pitchFamily="65" charset="-120"/>
              </a:rPr>
              <a:t>；冷卻</a:t>
            </a:r>
            <a:r>
              <a:rPr lang="en-US" altLang="zh-TW" sz="1800" dirty="0">
                <a:solidFill>
                  <a:schemeClr val="tx1"/>
                </a:solidFill>
                <a:latin typeface="標楷體" panose="03000509000000000000" pitchFamily="65" charset="-120"/>
                <a:ea typeface="標楷體" panose="03000509000000000000" pitchFamily="65" charset="-120"/>
              </a:rPr>
              <a:t>~12℃</a:t>
            </a:r>
            <a:r>
              <a:rPr lang="zh-TW" altLang="en-US" sz="1800" dirty="0">
                <a:solidFill>
                  <a:schemeClr val="tx1"/>
                </a:solidFill>
                <a:latin typeface="標楷體" panose="03000509000000000000" pitchFamily="65" charset="-120"/>
                <a:ea typeface="標楷體" panose="03000509000000000000" pitchFamily="65" charset="-120"/>
              </a:rPr>
              <a:t>；環境</a:t>
            </a:r>
            <a:r>
              <a:rPr lang="en-US" altLang="zh-TW" sz="1800" dirty="0">
                <a:solidFill>
                  <a:schemeClr val="tx1"/>
                </a:solidFill>
                <a:latin typeface="標楷體" panose="03000509000000000000" pitchFamily="65" charset="-120"/>
                <a:ea typeface="標楷體" panose="03000509000000000000" pitchFamily="65" charset="-120"/>
              </a:rPr>
              <a:t>~27℃</a:t>
            </a:r>
            <a:r>
              <a:rPr lang="zh-TW" altLang="en-US" sz="1800" dirty="0">
                <a:solidFill>
                  <a:schemeClr val="tx1"/>
                </a:solidFill>
                <a:latin typeface="標楷體" panose="03000509000000000000" pitchFamily="65" charset="-120"/>
                <a:ea typeface="標楷體" panose="03000509000000000000" pitchFamily="65" charset="-120"/>
              </a:rPr>
              <a:t>）下離水 </a:t>
            </a:r>
            <a:r>
              <a:rPr lang="en-US" altLang="zh-TW" sz="1800" dirty="0">
                <a:solidFill>
                  <a:schemeClr val="tx1"/>
                </a:solidFill>
                <a:latin typeface="標楷體" panose="03000509000000000000" pitchFamily="65" charset="-120"/>
                <a:ea typeface="標楷體" panose="03000509000000000000" pitchFamily="65" charset="-120"/>
              </a:rPr>
              <a:t>6-48 </a:t>
            </a:r>
            <a:r>
              <a:rPr lang="zh-TW" altLang="en-US" sz="1800" dirty="0">
                <a:solidFill>
                  <a:schemeClr val="tx1"/>
                </a:solidFill>
                <a:latin typeface="標楷體" panose="03000509000000000000" pitchFamily="65" charset="-120"/>
                <a:ea typeface="標楷體" panose="03000509000000000000" pitchFamily="65" charset="-120"/>
              </a:rPr>
              <a:t>小時後，再放回海水中飼養 </a:t>
            </a:r>
            <a:r>
              <a:rPr lang="en-US" altLang="zh-TW" sz="1800" dirty="0">
                <a:solidFill>
                  <a:schemeClr val="tx1"/>
                </a:solidFill>
                <a:latin typeface="標楷體" panose="03000509000000000000" pitchFamily="65" charset="-120"/>
                <a:ea typeface="標楷體" panose="03000509000000000000" pitchFamily="65" charset="-120"/>
              </a:rPr>
              <a:t>15 </a:t>
            </a:r>
            <a:r>
              <a:rPr lang="zh-TW" altLang="en-US" sz="1800" dirty="0">
                <a:solidFill>
                  <a:schemeClr val="tx1"/>
                </a:solidFill>
                <a:latin typeface="標楷體" panose="03000509000000000000" pitchFamily="65" charset="-120"/>
                <a:ea typeface="標楷體" panose="03000509000000000000" pitchFamily="65" charset="-120"/>
              </a:rPr>
              <a:t>天的總</a:t>
            </a:r>
            <a:r>
              <a:rPr lang="zh-TW" altLang="en-US" sz="1800" dirty="0" smtClean="0">
                <a:solidFill>
                  <a:schemeClr val="tx1"/>
                </a:solidFill>
                <a:latin typeface="標楷體" panose="03000509000000000000" pitchFamily="65" charset="-120"/>
                <a:ea typeface="標楷體" panose="03000509000000000000" pitchFamily="65" charset="-120"/>
              </a:rPr>
              <a:t>死亡率 </a:t>
            </a:r>
            <a:r>
              <a:rPr lang="zh-TW" altLang="en-US" sz="1800" dirty="0">
                <a:solidFill>
                  <a:schemeClr val="tx1"/>
                </a:solidFill>
                <a:latin typeface="標楷體" panose="03000509000000000000" pitchFamily="65" charset="-120"/>
                <a:ea typeface="標楷體" panose="03000509000000000000" pitchFamily="65" charset="-120"/>
              </a:rPr>
              <a:t>。</a:t>
            </a:r>
            <a:r>
              <a:rPr lang="zh-TW" altLang="en-US" sz="1800" dirty="0" smtClean="0">
                <a:solidFill>
                  <a:schemeClr val="tx1"/>
                </a:solidFill>
                <a:latin typeface="標楷體" panose="03000509000000000000" pitchFamily="65" charset="-120"/>
                <a:ea typeface="標楷體" panose="03000509000000000000" pitchFamily="65" charset="-120"/>
              </a:rPr>
              <a:t>數據</a:t>
            </a:r>
            <a:r>
              <a:rPr lang="zh-TW" altLang="en-US" sz="1800" dirty="0">
                <a:solidFill>
                  <a:schemeClr val="tx1"/>
                </a:solidFill>
                <a:latin typeface="標楷體" panose="03000509000000000000" pitchFamily="65" charset="-120"/>
                <a:ea typeface="標楷體" panose="03000509000000000000" pitchFamily="65" charset="-120"/>
              </a:rPr>
              <a:t>以每組處理中死亡海膽佔總海膽數的百分比表示（</a:t>
            </a:r>
            <a:r>
              <a:rPr lang="en-US" altLang="zh-TW" sz="1800" dirty="0">
                <a:solidFill>
                  <a:schemeClr val="tx1"/>
                </a:solidFill>
                <a:latin typeface="標楷體" panose="03000509000000000000" pitchFamily="65" charset="-120"/>
                <a:ea typeface="標楷體" panose="03000509000000000000" pitchFamily="65" charset="-120"/>
              </a:rPr>
              <a:t>n=5</a:t>
            </a:r>
            <a:r>
              <a:rPr lang="zh-TW" altLang="en-US" sz="1800" dirty="0">
                <a:solidFill>
                  <a:schemeClr val="tx1"/>
                </a:solidFill>
                <a:latin typeface="標楷體" panose="03000509000000000000" pitchFamily="65" charset="-120"/>
                <a:ea typeface="標楷體" panose="03000509000000000000" pitchFamily="65" charset="-120"/>
              </a:rPr>
              <a:t>）。 </a:t>
            </a:r>
            <a:r>
              <a:rPr lang="en-US" altLang="zh-TW" sz="1800" dirty="0">
                <a:solidFill>
                  <a:schemeClr val="tx1"/>
                </a:solidFill>
                <a:latin typeface="標楷體" panose="03000509000000000000" pitchFamily="65" charset="-120"/>
                <a:ea typeface="標楷體" panose="03000509000000000000" pitchFamily="65" charset="-120"/>
              </a:rPr>
              <a:t>0 </a:t>
            </a:r>
            <a:r>
              <a:rPr lang="zh-TW" altLang="en-US" sz="1800" dirty="0">
                <a:solidFill>
                  <a:schemeClr val="tx1"/>
                </a:solidFill>
                <a:latin typeface="標楷體" panose="03000509000000000000" pitchFamily="65" charset="-120"/>
                <a:ea typeface="標楷體" panose="03000509000000000000" pitchFamily="65" charset="-120"/>
              </a:rPr>
              <a:t>表示該處理組無死亡。</a:t>
            </a:r>
          </a:p>
        </p:txBody>
      </p:sp>
      <p:pic>
        <p:nvPicPr>
          <p:cNvPr id="4" name="內容版面配置區 3"/>
          <p:cNvPicPr>
            <a:picLocks noGrp="1" noChangeAspect="1"/>
          </p:cNvPicPr>
          <p:nvPr>
            <p:ph idx="1"/>
          </p:nvPr>
        </p:nvPicPr>
        <p:blipFill>
          <a:blip r:embed="rId2"/>
          <a:stretch>
            <a:fillRect/>
          </a:stretch>
        </p:blipFill>
        <p:spPr>
          <a:xfrm>
            <a:off x="1208227" y="2284254"/>
            <a:ext cx="9998289" cy="3268406"/>
          </a:xfrm>
          <a:prstGeom prst="rect">
            <a:avLst/>
          </a:prstGeom>
        </p:spPr>
      </p:pic>
    </p:spTree>
    <p:extLst>
      <p:ext uri="{BB962C8B-B14F-4D97-AF65-F5344CB8AC3E}">
        <p14:creationId xmlns:p14="http://schemas.microsoft.com/office/powerpoint/2010/main" val="2941526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92925" y="624110"/>
            <a:ext cx="9148501" cy="2132342"/>
          </a:xfrm>
        </p:spPr>
        <p:txBody>
          <a:bodyPr>
            <a:noAutofit/>
          </a:bodyPr>
          <a:lstStyle/>
          <a:p>
            <a:pPr algn="ctr"/>
            <a:r>
              <a:rPr lang="zh-TW" altLang="en-US" sz="2800" dirty="0">
                <a:solidFill>
                  <a:schemeClr val="tx1"/>
                </a:solidFill>
                <a:latin typeface="標楷體" panose="03000509000000000000" pitchFamily="65" charset="-120"/>
                <a:ea typeface="標楷體" panose="03000509000000000000" pitchFamily="65" charset="-120"/>
              </a:rPr>
              <a:t>質量</a:t>
            </a:r>
            <a:r>
              <a:rPr lang="zh-TW" altLang="en-US" sz="2800" dirty="0" smtClean="0">
                <a:solidFill>
                  <a:schemeClr val="tx1"/>
                </a:solidFill>
                <a:latin typeface="標楷體" panose="03000509000000000000" pitchFamily="65" charset="-120"/>
                <a:ea typeface="標楷體" panose="03000509000000000000" pitchFamily="65" charset="-120"/>
              </a:rPr>
              <a:t>損失</a:t>
            </a:r>
            <a:r>
              <a:rPr lang="en-US" altLang="zh-TW" sz="1800" dirty="0" smtClean="0">
                <a:solidFill>
                  <a:schemeClr val="tx1"/>
                </a:solidFill>
                <a:latin typeface="標楷體" panose="03000509000000000000" pitchFamily="65" charset="-120"/>
                <a:ea typeface="標楷體" panose="03000509000000000000" pitchFamily="65" charset="-120"/>
              </a:rPr>
              <a:t/>
            </a:r>
            <a:br>
              <a:rPr lang="en-US" altLang="zh-TW" sz="1800" dirty="0" smtClean="0">
                <a:solidFill>
                  <a:schemeClr val="tx1"/>
                </a:solidFill>
                <a:latin typeface="標楷體" panose="03000509000000000000" pitchFamily="65" charset="-120"/>
                <a:ea typeface="標楷體" panose="03000509000000000000" pitchFamily="65" charset="-120"/>
              </a:rPr>
            </a:br>
            <a:r>
              <a:rPr lang="zh-TW" altLang="en-US" sz="1800" dirty="0" smtClean="0">
                <a:solidFill>
                  <a:schemeClr val="tx1"/>
                </a:solidFill>
                <a:latin typeface="標楷體" panose="03000509000000000000" pitchFamily="65" charset="-120"/>
                <a:ea typeface="標楷體" panose="03000509000000000000" pitchFamily="65" charset="-120"/>
              </a:rPr>
              <a:t>空</a:t>
            </a:r>
            <a:r>
              <a:rPr lang="zh-TW" altLang="en-US" sz="1800" dirty="0" smtClean="0">
                <a:solidFill>
                  <a:schemeClr val="tx1"/>
                </a:solidFill>
                <a:latin typeface="標楷體" panose="03000509000000000000" pitchFamily="65" charset="-120"/>
                <a:ea typeface="標楷體" panose="03000509000000000000" pitchFamily="65" charset="-120"/>
              </a:rPr>
              <a:t>溫和</a:t>
            </a:r>
            <a:r>
              <a:rPr lang="zh-TW" altLang="en-US" sz="1800" dirty="0">
                <a:solidFill>
                  <a:schemeClr val="tx1"/>
                </a:solidFill>
                <a:latin typeface="標楷體" panose="03000509000000000000" pitchFamily="65" charset="-120"/>
                <a:ea typeface="標楷體" panose="03000509000000000000" pitchFamily="65" charset="-120"/>
              </a:rPr>
              <a:t>空氣暴露時間之間有顯著的</a:t>
            </a:r>
            <a:r>
              <a:rPr lang="zh-TW" altLang="en-US" sz="1800" dirty="0" smtClean="0">
                <a:solidFill>
                  <a:schemeClr val="tx1"/>
                </a:solidFill>
                <a:latin typeface="標楷體" panose="03000509000000000000" pitchFamily="65" charset="-120"/>
                <a:ea typeface="標楷體" panose="03000509000000000000" pitchFamily="65" charset="-120"/>
              </a:rPr>
              <a:t>交互作用。</a:t>
            </a:r>
            <a:r>
              <a:rPr lang="zh-TW" altLang="en-US" sz="1800" dirty="0">
                <a:solidFill>
                  <a:schemeClr val="tx1"/>
                </a:solidFill>
                <a:latin typeface="標楷體" panose="03000509000000000000" pitchFamily="65" charset="-120"/>
                <a:ea typeface="標楷體" panose="03000509000000000000" pitchFamily="65" charset="-120"/>
              </a:rPr>
              <a:t>對於在離水環境中放置</a:t>
            </a:r>
            <a:r>
              <a:rPr lang="en-US" altLang="zh-TW" sz="1800" dirty="0">
                <a:solidFill>
                  <a:schemeClr val="tx1"/>
                </a:solidFill>
                <a:latin typeface="標楷體" panose="03000509000000000000" pitchFamily="65" charset="-120"/>
                <a:ea typeface="標楷體" panose="03000509000000000000" pitchFamily="65" charset="-120"/>
              </a:rPr>
              <a:t>6</a:t>
            </a:r>
            <a:r>
              <a:rPr lang="zh-TW" altLang="en-US" sz="1800" dirty="0">
                <a:solidFill>
                  <a:schemeClr val="tx1"/>
                </a:solidFill>
                <a:latin typeface="標楷體" panose="03000509000000000000" pitchFamily="65" charset="-120"/>
                <a:ea typeface="標楷體" panose="03000509000000000000" pitchFamily="65" charset="-120"/>
              </a:rPr>
              <a:t>小時的</a:t>
            </a:r>
            <a:r>
              <a:rPr lang="en-US" altLang="zh-TW" sz="1800" i="1" dirty="0">
                <a:solidFill>
                  <a:schemeClr val="tx1"/>
                </a:solidFill>
                <a:latin typeface="標楷體" panose="03000509000000000000" pitchFamily="65" charset="-120"/>
                <a:ea typeface="標楷體" panose="03000509000000000000" pitchFamily="65" charset="-120"/>
              </a:rPr>
              <a:t>T. </a:t>
            </a:r>
            <a:r>
              <a:rPr lang="en-US" altLang="zh-TW" sz="1800" i="1" dirty="0" err="1">
                <a:solidFill>
                  <a:schemeClr val="tx1"/>
                </a:solidFill>
                <a:latin typeface="標楷體" panose="03000509000000000000" pitchFamily="65" charset="-120"/>
                <a:ea typeface="標楷體" panose="03000509000000000000" pitchFamily="65" charset="-120"/>
              </a:rPr>
              <a:t>gratilla</a:t>
            </a:r>
            <a:r>
              <a:rPr lang="zh-TW" altLang="en-US" sz="1800" dirty="0">
                <a:solidFill>
                  <a:schemeClr val="tx1"/>
                </a:solidFill>
                <a:latin typeface="標楷體" panose="03000509000000000000" pitchFamily="65" charset="-120"/>
                <a:ea typeface="標楷體" panose="03000509000000000000" pitchFamily="65" charset="-120"/>
              </a:rPr>
              <a:t>，不同空氣溫度處理組中個體質量損失百分比無統計學</a:t>
            </a:r>
            <a:r>
              <a:rPr lang="zh-TW" altLang="en-US" sz="1800" dirty="0" smtClean="0">
                <a:solidFill>
                  <a:schemeClr val="tx1"/>
                </a:solidFill>
                <a:latin typeface="標楷體" panose="03000509000000000000" pitchFamily="65" charset="-120"/>
                <a:ea typeface="標楷體" panose="03000509000000000000" pitchFamily="65" charset="-120"/>
              </a:rPr>
              <a:t>差異。</a:t>
            </a:r>
            <a:r>
              <a:rPr lang="zh-TW" altLang="en-US" sz="1800" dirty="0">
                <a:solidFill>
                  <a:schemeClr val="tx1"/>
                </a:solidFill>
                <a:latin typeface="標楷體" panose="03000509000000000000" pitchFamily="65" charset="-120"/>
                <a:ea typeface="標楷體" panose="03000509000000000000" pitchFamily="65" charset="-120"/>
              </a:rPr>
              <a:t>對於在離水環境中放置</a:t>
            </a:r>
            <a:r>
              <a:rPr lang="en-US" altLang="zh-TW" sz="1800" dirty="0">
                <a:solidFill>
                  <a:schemeClr val="tx1"/>
                </a:solidFill>
                <a:latin typeface="標楷體" panose="03000509000000000000" pitchFamily="65" charset="-120"/>
                <a:ea typeface="標楷體" panose="03000509000000000000" pitchFamily="65" charset="-120"/>
              </a:rPr>
              <a:t>12</a:t>
            </a:r>
            <a:r>
              <a:rPr lang="zh-TW" altLang="en-US" sz="1800" dirty="0">
                <a:solidFill>
                  <a:schemeClr val="tx1"/>
                </a:solidFill>
                <a:latin typeface="標楷體" panose="03000509000000000000" pitchFamily="65" charset="-120"/>
                <a:ea typeface="標楷體" panose="03000509000000000000" pitchFamily="65" charset="-120"/>
              </a:rPr>
              <a:t>小時的</a:t>
            </a:r>
            <a:r>
              <a:rPr lang="en-US" altLang="zh-TW" sz="1800" i="1" dirty="0">
                <a:solidFill>
                  <a:schemeClr val="tx1"/>
                </a:solidFill>
                <a:latin typeface="標楷體" panose="03000509000000000000" pitchFamily="65" charset="-120"/>
                <a:ea typeface="標楷體" panose="03000509000000000000" pitchFamily="65" charset="-120"/>
              </a:rPr>
              <a:t>T. </a:t>
            </a:r>
            <a:r>
              <a:rPr lang="en-US" altLang="zh-TW" sz="1800" i="1" dirty="0" err="1">
                <a:solidFill>
                  <a:schemeClr val="tx1"/>
                </a:solidFill>
                <a:latin typeface="標楷體" panose="03000509000000000000" pitchFamily="65" charset="-120"/>
                <a:ea typeface="標楷體" panose="03000509000000000000" pitchFamily="65" charset="-120"/>
              </a:rPr>
              <a:t>gratilla</a:t>
            </a:r>
            <a:r>
              <a:rPr lang="zh-TW" altLang="en-US" sz="1800" dirty="0">
                <a:solidFill>
                  <a:schemeClr val="tx1"/>
                </a:solidFill>
                <a:latin typeface="標楷體" panose="03000509000000000000" pitchFamily="65" charset="-120"/>
                <a:ea typeface="標楷體" panose="03000509000000000000" pitchFamily="65" charset="-120"/>
              </a:rPr>
              <a:t>，環境溫度處理組（</a:t>
            </a:r>
            <a:r>
              <a:rPr lang="en-US" altLang="zh-TW" sz="1800" dirty="0">
                <a:solidFill>
                  <a:schemeClr val="tx1"/>
                </a:solidFill>
                <a:latin typeface="標楷體" panose="03000509000000000000" pitchFamily="65" charset="-120"/>
                <a:ea typeface="標楷體" panose="03000509000000000000" pitchFamily="65" charset="-120"/>
              </a:rPr>
              <a:t>~27℃</a:t>
            </a:r>
            <a:r>
              <a:rPr lang="zh-TW" altLang="en-US" sz="1800" dirty="0">
                <a:solidFill>
                  <a:schemeClr val="tx1"/>
                </a:solidFill>
                <a:latin typeface="標楷體" panose="03000509000000000000" pitchFamily="65" charset="-120"/>
                <a:ea typeface="標楷體" panose="03000509000000000000" pitchFamily="65" charset="-120"/>
              </a:rPr>
              <a:t>）的個體質量損失百分比是冷藏處理組（</a:t>
            </a:r>
            <a:r>
              <a:rPr lang="en-US" altLang="zh-TW" sz="1800" dirty="0">
                <a:solidFill>
                  <a:schemeClr val="tx1"/>
                </a:solidFill>
                <a:latin typeface="標楷體" panose="03000509000000000000" pitchFamily="65" charset="-120"/>
                <a:ea typeface="標楷體" panose="03000509000000000000" pitchFamily="65" charset="-120"/>
              </a:rPr>
              <a:t>~4℃</a:t>
            </a:r>
            <a:r>
              <a:rPr lang="zh-TW" altLang="en-US" sz="1800" dirty="0">
                <a:solidFill>
                  <a:schemeClr val="tx1"/>
                </a:solidFill>
                <a:latin typeface="標楷體" panose="03000509000000000000" pitchFamily="65" charset="-120"/>
                <a:ea typeface="標楷體" panose="03000509000000000000" pitchFamily="65" charset="-120"/>
              </a:rPr>
              <a:t>）的</a:t>
            </a:r>
            <a:r>
              <a:rPr lang="en-US" altLang="zh-TW" sz="1800" dirty="0">
                <a:solidFill>
                  <a:schemeClr val="tx1"/>
                </a:solidFill>
                <a:latin typeface="標楷體" panose="03000509000000000000" pitchFamily="65" charset="-120"/>
                <a:ea typeface="標楷體" panose="03000509000000000000" pitchFamily="65" charset="-120"/>
              </a:rPr>
              <a:t>1.2</a:t>
            </a:r>
            <a:r>
              <a:rPr lang="zh-TW" altLang="en-US" sz="1800" dirty="0">
                <a:solidFill>
                  <a:schemeClr val="tx1"/>
                </a:solidFill>
                <a:latin typeface="標楷體" panose="03000509000000000000" pitchFamily="65" charset="-120"/>
                <a:ea typeface="標楷體" panose="03000509000000000000" pitchFamily="65" charset="-120"/>
              </a:rPr>
              <a:t>倍，但兩者與冷卻處理組（</a:t>
            </a:r>
            <a:r>
              <a:rPr lang="en-US" altLang="zh-TW" sz="1800" dirty="0">
                <a:solidFill>
                  <a:schemeClr val="tx1"/>
                </a:solidFill>
                <a:latin typeface="標楷體" panose="03000509000000000000" pitchFamily="65" charset="-120"/>
                <a:ea typeface="標楷體" panose="03000509000000000000" pitchFamily="65" charset="-120"/>
              </a:rPr>
              <a:t>~12℃</a:t>
            </a:r>
            <a:r>
              <a:rPr lang="zh-TW" altLang="en-US" sz="1800" dirty="0">
                <a:solidFill>
                  <a:schemeClr val="tx1"/>
                </a:solidFill>
                <a:latin typeface="標楷體" panose="03000509000000000000" pitchFamily="65" charset="-120"/>
                <a:ea typeface="標楷體" panose="03000509000000000000" pitchFamily="65" charset="-120"/>
              </a:rPr>
              <a:t>）均無顯著</a:t>
            </a:r>
            <a:r>
              <a:rPr lang="zh-TW" altLang="en-US" sz="1800" dirty="0" smtClean="0">
                <a:solidFill>
                  <a:schemeClr val="tx1"/>
                </a:solidFill>
                <a:latin typeface="標楷體" panose="03000509000000000000" pitchFamily="65" charset="-120"/>
                <a:ea typeface="標楷體" panose="03000509000000000000" pitchFamily="65" charset="-120"/>
              </a:rPr>
              <a:t>差異對於</a:t>
            </a:r>
            <a:r>
              <a:rPr lang="zh-TW" altLang="en-US" sz="1800" dirty="0">
                <a:solidFill>
                  <a:schemeClr val="tx1"/>
                </a:solidFill>
                <a:latin typeface="標楷體" panose="03000509000000000000" pitchFamily="65" charset="-120"/>
                <a:ea typeface="標楷體" panose="03000509000000000000" pitchFamily="65" charset="-120"/>
              </a:rPr>
              <a:t>在離水條件下放置 </a:t>
            </a:r>
            <a:r>
              <a:rPr lang="en-US" altLang="zh-TW" sz="1800" dirty="0">
                <a:solidFill>
                  <a:schemeClr val="tx1"/>
                </a:solidFill>
                <a:latin typeface="標楷體" panose="03000509000000000000" pitchFamily="65" charset="-120"/>
                <a:ea typeface="標楷體" panose="03000509000000000000" pitchFamily="65" charset="-120"/>
              </a:rPr>
              <a:t>24 </a:t>
            </a:r>
            <a:r>
              <a:rPr lang="zh-TW" altLang="en-US" sz="1800" dirty="0">
                <a:solidFill>
                  <a:schemeClr val="tx1"/>
                </a:solidFill>
                <a:latin typeface="標楷體" panose="03000509000000000000" pitchFamily="65" charset="-120"/>
                <a:ea typeface="標楷體" panose="03000509000000000000" pitchFamily="65" charset="-120"/>
              </a:rPr>
              <a:t>小時和 </a:t>
            </a:r>
            <a:r>
              <a:rPr lang="en-US" altLang="zh-TW" sz="1800" dirty="0">
                <a:solidFill>
                  <a:schemeClr val="tx1"/>
                </a:solidFill>
                <a:latin typeface="標楷體" panose="03000509000000000000" pitchFamily="65" charset="-120"/>
                <a:ea typeface="標楷體" panose="03000509000000000000" pitchFamily="65" charset="-120"/>
              </a:rPr>
              <a:t>48 </a:t>
            </a:r>
            <a:r>
              <a:rPr lang="zh-TW" altLang="en-US" sz="1800" dirty="0">
                <a:solidFill>
                  <a:schemeClr val="tx1"/>
                </a:solidFill>
                <a:latin typeface="標楷體" panose="03000509000000000000" pitchFamily="65" charset="-120"/>
                <a:ea typeface="標楷體" panose="03000509000000000000" pitchFamily="65" charset="-120"/>
              </a:rPr>
              <a:t>小時的 </a:t>
            </a:r>
            <a:r>
              <a:rPr lang="en-US" altLang="zh-TW" sz="1800" i="1" dirty="0">
                <a:solidFill>
                  <a:schemeClr val="tx1"/>
                </a:solidFill>
                <a:latin typeface="標楷體" panose="03000509000000000000" pitchFamily="65" charset="-120"/>
                <a:ea typeface="標楷體" panose="03000509000000000000" pitchFamily="65" charset="-120"/>
              </a:rPr>
              <a:t>T. </a:t>
            </a:r>
            <a:r>
              <a:rPr lang="en-US" altLang="zh-TW" sz="1800" i="1" dirty="0" err="1">
                <a:solidFill>
                  <a:schemeClr val="tx1"/>
                </a:solidFill>
                <a:latin typeface="標楷體" panose="03000509000000000000" pitchFamily="65" charset="-120"/>
                <a:ea typeface="標楷體" panose="03000509000000000000" pitchFamily="65" charset="-120"/>
              </a:rPr>
              <a:t>gratilla</a:t>
            </a:r>
            <a:r>
              <a:rPr lang="zh-TW" altLang="en-US" sz="1800" dirty="0">
                <a:solidFill>
                  <a:schemeClr val="tx1"/>
                </a:solidFill>
                <a:latin typeface="標楷體" panose="03000509000000000000" pitchFamily="65" charset="-120"/>
                <a:ea typeface="標楷體" panose="03000509000000000000" pitchFamily="65" charset="-120"/>
              </a:rPr>
              <a:t>，在常溫處理組中海膽的質量損失百分比分別是冷藏組和冷卻組的 </a:t>
            </a:r>
            <a:r>
              <a:rPr lang="en-US" altLang="zh-TW" sz="1800" dirty="0">
                <a:solidFill>
                  <a:schemeClr val="tx1"/>
                </a:solidFill>
                <a:latin typeface="標楷體" panose="03000509000000000000" pitchFamily="65" charset="-120"/>
                <a:ea typeface="標楷體" panose="03000509000000000000" pitchFamily="65" charset="-120"/>
              </a:rPr>
              <a:t>2-3 </a:t>
            </a:r>
            <a:r>
              <a:rPr lang="zh-TW" altLang="en-US" sz="1800" dirty="0">
                <a:solidFill>
                  <a:schemeClr val="tx1"/>
                </a:solidFill>
                <a:latin typeface="標楷體" panose="03000509000000000000" pitchFamily="65" charset="-120"/>
                <a:ea typeface="標楷體" panose="03000509000000000000" pitchFamily="65" charset="-120"/>
              </a:rPr>
              <a:t>倍，而冷藏組和冷卻組的質量損失百分比沒有差異</a:t>
            </a:r>
            <a:endParaRPr lang="zh-TW" altLang="en-US" sz="1800" dirty="0"/>
          </a:p>
        </p:txBody>
      </p:sp>
      <p:pic>
        <p:nvPicPr>
          <p:cNvPr id="4" name="內容版面配置區 3"/>
          <p:cNvPicPr>
            <a:picLocks noGrp="1" noChangeAspect="1"/>
          </p:cNvPicPr>
          <p:nvPr>
            <p:ph idx="1"/>
          </p:nvPr>
        </p:nvPicPr>
        <p:blipFill>
          <a:blip r:embed="rId2"/>
          <a:stretch>
            <a:fillRect/>
          </a:stretch>
        </p:blipFill>
        <p:spPr>
          <a:xfrm>
            <a:off x="2592925" y="3048000"/>
            <a:ext cx="8746192" cy="3008244"/>
          </a:xfrm>
          <a:prstGeom prst="rect">
            <a:avLst/>
          </a:prstGeom>
        </p:spPr>
      </p:pic>
    </p:spTree>
    <p:extLst>
      <p:ext uri="{BB962C8B-B14F-4D97-AF65-F5344CB8AC3E}">
        <p14:creationId xmlns:p14="http://schemas.microsoft.com/office/powerpoint/2010/main" val="2864727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dirty="0" smtClean="0">
                <a:solidFill>
                  <a:schemeClr val="tx1"/>
                </a:solidFill>
                <a:latin typeface="標楷體" panose="03000509000000000000" pitchFamily="65" charset="-120"/>
                <a:ea typeface="標楷體" panose="03000509000000000000" pitchFamily="65" charset="-120"/>
              </a:rPr>
              <a:t>翻正行為</a:t>
            </a:r>
            <a:endParaRPr lang="zh-TW" altLang="en-US" dirty="0">
              <a:solidFill>
                <a:schemeClr val="tx1"/>
              </a:solidFill>
              <a:latin typeface="標楷體" panose="03000509000000000000" pitchFamily="65" charset="-120"/>
              <a:ea typeface="標楷體" panose="03000509000000000000" pitchFamily="65" charset="-120"/>
            </a:endParaRPr>
          </a:p>
        </p:txBody>
      </p:sp>
      <p:pic>
        <p:nvPicPr>
          <p:cNvPr id="4" name="內容版面配置區 3"/>
          <p:cNvPicPr>
            <a:picLocks noGrp="1" noChangeAspect="1"/>
          </p:cNvPicPr>
          <p:nvPr>
            <p:ph idx="1"/>
          </p:nvPr>
        </p:nvPicPr>
        <p:blipFill>
          <a:blip r:embed="rId2"/>
          <a:stretch>
            <a:fillRect/>
          </a:stretch>
        </p:blipFill>
        <p:spPr>
          <a:xfrm>
            <a:off x="2441611" y="1623021"/>
            <a:ext cx="7802319" cy="4771894"/>
          </a:xfrm>
          <a:prstGeom prst="rect">
            <a:avLst/>
          </a:prstGeom>
        </p:spPr>
      </p:pic>
    </p:spTree>
    <p:extLst>
      <p:ext uri="{BB962C8B-B14F-4D97-AF65-F5344CB8AC3E}">
        <p14:creationId xmlns:p14="http://schemas.microsoft.com/office/powerpoint/2010/main" val="330604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208612" y="504841"/>
            <a:ext cx="8911687" cy="1280890"/>
          </a:xfrm>
        </p:spPr>
        <p:txBody>
          <a:bodyPr/>
          <a:lstStyle/>
          <a:p>
            <a:pPr algn="ctr"/>
            <a:r>
              <a:rPr lang="zh-TW" altLang="en-US" dirty="0" smtClean="0">
                <a:solidFill>
                  <a:schemeClr val="tx1"/>
                </a:solidFill>
                <a:latin typeface="標楷體" panose="03000509000000000000" pitchFamily="65" charset="-120"/>
                <a:ea typeface="標楷體" panose="03000509000000000000" pitchFamily="65" charset="-120"/>
              </a:rPr>
              <a:t>容器比較</a:t>
            </a:r>
            <a:endParaRPr lang="zh-TW" altLang="en-US" dirty="0">
              <a:solidFill>
                <a:schemeClr val="tx1"/>
              </a:solidFill>
              <a:latin typeface="標楷體" panose="03000509000000000000" pitchFamily="65" charset="-120"/>
              <a:ea typeface="標楷體" panose="03000509000000000000" pitchFamily="65" charset="-120"/>
            </a:endParaRPr>
          </a:p>
        </p:txBody>
      </p:sp>
      <p:pic>
        <p:nvPicPr>
          <p:cNvPr id="4" name="內容版面配置區 3"/>
          <p:cNvPicPr>
            <a:picLocks noGrp="1" noChangeAspect="1"/>
          </p:cNvPicPr>
          <p:nvPr>
            <p:ph idx="1"/>
          </p:nvPr>
        </p:nvPicPr>
        <p:blipFill>
          <a:blip r:embed="rId2"/>
          <a:stretch>
            <a:fillRect/>
          </a:stretch>
        </p:blipFill>
        <p:spPr>
          <a:xfrm>
            <a:off x="4306717" y="2059073"/>
            <a:ext cx="5128831" cy="4310870"/>
          </a:xfrm>
          <a:prstGeom prst="rect">
            <a:avLst/>
          </a:prstGeom>
        </p:spPr>
      </p:pic>
    </p:spTree>
    <p:extLst>
      <p:ext uri="{BB962C8B-B14F-4D97-AF65-F5344CB8AC3E}">
        <p14:creationId xmlns:p14="http://schemas.microsoft.com/office/powerpoint/2010/main" val="2876445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dirty="0" smtClean="0">
                <a:solidFill>
                  <a:schemeClr val="tx1"/>
                </a:solidFill>
                <a:latin typeface="標楷體" panose="03000509000000000000" pitchFamily="65" charset="-120"/>
                <a:ea typeface="標楷體" panose="03000509000000000000" pitchFamily="65" charset="-120"/>
              </a:rPr>
              <a:t>結論</a:t>
            </a:r>
            <a:endParaRPr lang="zh-TW" altLang="en-US" dirty="0">
              <a:solidFill>
                <a:schemeClr val="tx1"/>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pPr marL="0" indent="0">
              <a:buNone/>
            </a:pPr>
            <a:endParaRPr lang="en-US" altLang="zh-TW" dirty="0" smtClean="0">
              <a:solidFill>
                <a:schemeClr val="tx1"/>
              </a:solidFill>
              <a:latin typeface="標楷體" panose="03000509000000000000" pitchFamily="65" charset="-120"/>
              <a:ea typeface="標楷體" panose="03000509000000000000" pitchFamily="65" charset="-120"/>
            </a:endParaRPr>
          </a:p>
          <a:p>
            <a:endParaRPr lang="en-US" altLang="zh-TW" dirty="0">
              <a:solidFill>
                <a:schemeClr val="tx1"/>
              </a:solidFill>
              <a:latin typeface="標楷體" panose="03000509000000000000" pitchFamily="65" charset="-120"/>
              <a:ea typeface="標楷體" panose="03000509000000000000" pitchFamily="65" charset="-120"/>
            </a:endParaRPr>
          </a:p>
          <a:p>
            <a:r>
              <a:rPr lang="zh-TW" altLang="en-US" dirty="0" smtClean="0">
                <a:solidFill>
                  <a:schemeClr val="tx1"/>
                </a:solidFill>
                <a:latin typeface="標楷體" panose="03000509000000000000" pitchFamily="65" charset="-120"/>
                <a:ea typeface="標楷體" panose="03000509000000000000" pitchFamily="65" charset="-120"/>
              </a:rPr>
              <a:t>在此論文實驗中</a:t>
            </a:r>
            <a:r>
              <a:rPr lang="zh-TW" altLang="en-US" dirty="0">
                <a:solidFill>
                  <a:schemeClr val="tx1"/>
                </a:solidFill>
                <a:latin typeface="標楷體" panose="03000509000000000000" pitchFamily="65" charset="-120"/>
                <a:ea typeface="標楷體" panose="03000509000000000000" pitchFamily="65" charset="-120"/>
              </a:rPr>
              <a:t>，</a:t>
            </a:r>
            <a:r>
              <a:rPr lang="zh-TW" altLang="en-US" dirty="0" smtClean="0">
                <a:solidFill>
                  <a:schemeClr val="tx1"/>
                </a:solidFill>
                <a:latin typeface="標楷體" panose="03000509000000000000" pitchFamily="65" charset="-120"/>
                <a:ea typeface="標楷體" panose="03000509000000000000" pitchFamily="65" charset="-120"/>
              </a:rPr>
              <a:t> </a:t>
            </a:r>
            <a:r>
              <a:rPr lang="en-US" altLang="zh-TW" dirty="0" smtClean="0">
                <a:solidFill>
                  <a:schemeClr val="tx1"/>
                </a:solidFill>
                <a:latin typeface="標楷體" panose="03000509000000000000" pitchFamily="65" charset="-120"/>
                <a:ea typeface="標楷體" panose="03000509000000000000" pitchFamily="65" charset="-120"/>
              </a:rPr>
              <a:t>12</a:t>
            </a:r>
            <a:r>
              <a:rPr lang="zh-TW" altLang="en-US" dirty="0" smtClean="0">
                <a:solidFill>
                  <a:schemeClr val="tx1"/>
                </a:solidFill>
                <a:latin typeface="標楷體" panose="03000509000000000000" pitchFamily="65" charset="-120"/>
                <a:ea typeface="標楷體" panose="03000509000000000000" pitchFamily="65" charset="-120"/>
              </a:rPr>
              <a:t>度</a:t>
            </a:r>
            <a:r>
              <a:rPr lang="en-US" altLang="zh-TW" dirty="0" smtClean="0">
                <a:solidFill>
                  <a:schemeClr val="tx1"/>
                </a:solidFill>
                <a:latin typeface="標楷體" panose="03000509000000000000" pitchFamily="65" charset="-120"/>
                <a:ea typeface="標楷體" panose="03000509000000000000" pitchFamily="65" charset="-120"/>
              </a:rPr>
              <a:t>C</a:t>
            </a:r>
            <a:r>
              <a:rPr lang="zh-TW" altLang="en-US" dirty="0" smtClean="0">
                <a:solidFill>
                  <a:schemeClr val="tx1"/>
                </a:solidFill>
                <a:latin typeface="標楷體" panose="03000509000000000000" pitchFamily="65" charset="-120"/>
                <a:ea typeface="標楷體" panose="03000509000000000000" pitchFamily="65" charset="-120"/>
              </a:rPr>
              <a:t>為存活率及保持海膽重量最佳的</a:t>
            </a:r>
            <a:r>
              <a:rPr lang="zh-TW" altLang="en-US" dirty="0">
                <a:solidFill>
                  <a:schemeClr val="tx1"/>
                </a:solidFill>
                <a:latin typeface="標楷體" panose="03000509000000000000" pitchFamily="65" charset="-120"/>
                <a:ea typeface="標楷體" panose="03000509000000000000" pitchFamily="65" charset="-120"/>
              </a:rPr>
              <a:t>溫度， </a:t>
            </a:r>
            <a:r>
              <a:rPr lang="zh-TW" altLang="en-US" dirty="0" smtClean="0">
                <a:solidFill>
                  <a:schemeClr val="tx1"/>
                </a:solidFill>
                <a:latin typeface="標楷體" panose="03000509000000000000" pitchFamily="65" charset="-120"/>
                <a:ea typeface="標楷體" panose="03000509000000000000" pitchFamily="65" charset="-120"/>
              </a:rPr>
              <a:t>提高濕度，且維持純氧</a:t>
            </a:r>
            <a:r>
              <a:rPr lang="zh-TW" altLang="en-US" dirty="0" smtClean="0">
                <a:solidFill>
                  <a:schemeClr val="tx1"/>
                </a:solidFill>
                <a:latin typeface="標楷體" panose="03000509000000000000" pitchFamily="65" charset="-120"/>
                <a:ea typeface="標楷體" panose="03000509000000000000" pitchFamily="65" charset="-120"/>
              </a:rPr>
              <a:t>環境更能提升寄送存活率。</a:t>
            </a:r>
            <a:endParaRPr lang="en-US" altLang="zh-TW" dirty="0" smtClean="0">
              <a:solidFill>
                <a:schemeClr val="tx1"/>
              </a:solidFill>
              <a:latin typeface="標楷體" panose="03000509000000000000" pitchFamily="65" charset="-120"/>
              <a:ea typeface="標楷體" panose="03000509000000000000" pitchFamily="65" charset="-120"/>
            </a:endParaRPr>
          </a:p>
          <a:p>
            <a:endParaRPr lang="en-US" altLang="zh-TW" dirty="0" smtClean="0">
              <a:solidFill>
                <a:schemeClr val="tx1"/>
              </a:solidFill>
              <a:latin typeface="標楷體" panose="03000509000000000000" pitchFamily="65" charset="-120"/>
              <a:ea typeface="標楷體" panose="03000509000000000000" pitchFamily="65" charset="-120"/>
            </a:endParaRPr>
          </a:p>
          <a:p>
            <a:endParaRPr lang="en-US" altLang="zh-TW" dirty="0">
              <a:solidFill>
                <a:schemeClr val="tx1"/>
              </a:solidFill>
              <a:latin typeface="標楷體" panose="03000509000000000000" pitchFamily="65" charset="-120"/>
              <a:ea typeface="標楷體" panose="03000509000000000000" pitchFamily="65" charset="-120"/>
            </a:endParaRPr>
          </a:p>
          <a:p>
            <a:r>
              <a:rPr lang="zh-TW" altLang="en-US" dirty="0" smtClean="0">
                <a:solidFill>
                  <a:schemeClr val="tx1"/>
                </a:solidFill>
                <a:latin typeface="標楷體" panose="03000509000000000000" pitchFamily="65" charset="-120"/>
                <a:ea typeface="標楷體" panose="03000509000000000000" pitchFamily="65" charset="-120"/>
              </a:rPr>
              <a:t>此論文設計實驗之</a:t>
            </a:r>
            <a:r>
              <a:rPr lang="zh-TW" altLang="en-US" dirty="0" smtClean="0">
                <a:solidFill>
                  <a:schemeClr val="tx1"/>
                </a:solidFill>
                <a:latin typeface="標楷體" panose="03000509000000000000" pitchFamily="65" charset="-120"/>
                <a:ea typeface="標楷體" panose="03000509000000000000" pitchFamily="65" charset="-120"/>
              </a:rPr>
              <a:t>容器的封閉</a:t>
            </a:r>
            <a:r>
              <a:rPr lang="zh-TW" altLang="en-US" dirty="0" smtClean="0">
                <a:solidFill>
                  <a:schemeClr val="tx1"/>
                </a:solidFill>
                <a:latin typeface="標楷體" panose="03000509000000000000" pitchFamily="65" charset="-120"/>
                <a:ea typeface="標楷體" panose="03000509000000000000" pitchFamily="65" charset="-120"/>
              </a:rPr>
              <a:t>與否及排出體液為否 </a:t>
            </a:r>
            <a:r>
              <a:rPr lang="zh-TW" altLang="en-US" dirty="0">
                <a:solidFill>
                  <a:schemeClr val="tx1"/>
                </a:solidFill>
                <a:latin typeface="標楷體" panose="03000509000000000000" pitchFamily="65" charset="-120"/>
                <a:ea typeface="標楷體" panose="03000509000000000000" pitchFamily="65" charset="-120"/>
              </a:rPr>
              <a:t>，</a:t>
            </a:r>
            <a:r>
              <a:rPr lang="zh-TW" altLang="en-US" dirty="0" smtClean="0">
                <a:solidFill>
                  <a:schemeClr val="tx1"/>
                </a:solidFill>
                <a:latin typeface="標楷體" panose="03000509000000000000" pitchFamily="65" charset="-120"/>
                <a:ea typeface="標楷體" panose="03000509000000000000" pitchFamily="65" charset="-120"/>
              </a:rPr>
              <a:t>並未對存活率</a:t>
            </a:r>
            <a:r>
              <a:rPr lang="zh-TW" altLang="zh-TW" dirty="0" smtClean="0">
                <a:latin typeface="標楷體" panose="03000509000000000000" pitchFamily="65" charset="-120"/>
                <a:ea typeface="標楷體" panose="03000509000000000000" pitchFamily="65" charset="-120"/>
              </a:rPr>
              <a:t>、</a:t>
            </a:r>
            <a:r>
              <a:rPr lang="zh-TW" altLang="en-US" dirty="0" smtClean="0">
                <a:solidFill>
                  <a:schemeClr val="tx1"/>
                </a:solidFill>
                <a:latin typeface="標楷體" panose="03000509000000000000" pitchFamily="65" charset="-120"/>
                <a:ea typeface="標楷體" panose="03000509000000000000" pitchFamily="65" charset="-120"/>
              </a:rPr>
              <a:t>體重變化</a:t>
            </a:r>
            <a:r>
              <a:rPr lang="zh-TW" altLang="zh-TW" dirty="0" smtClean="0">
                <a:latin typeface="標楷體" panose="03000509000000000000" pitchFamily="65" charset="-120"/>
                <a:ea typeface="標楷體" panose="03000509000000000000" pitchFamily="65" charset="-120"/>
              </a:rPr>
              <a:t>、</a:t>
            </a:r>
            <a:r>
              <a:rPr lang="zh-TW" altLang="en-US" dirty="0" smtClean="0">
                <a:solidFill>
                  <a:schemeClr val="tx1"/>
                </a:solidFill>
                <a:latin typeface="標楷體" panose="03000509000000000000" pitchFamily="65" charset="-120"/>
                <a:ea typeface="標楷體" panose="03000509000000000000" pitchFamily="65" charset="-120"/>
              </a:rPr>
              <a:t>翻身速度有顯著影響</a:t>
            </a:r>
            <a:r>
              <a:rPr lang="zh-TW" altLang="en-US" dirty="0">
                <a:solidFill>
                  <a:schemeClr val="tx1"/>
                </a:solidFill>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3433610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49377" y="703622"/>
            <a:ext cx="8911687" cy="1280890"/>
          </a:xfrm>
        </p:spPr>
        <p:txBody>
          <a:bodyPr/>
          <a:lstStyle/>
          <a:p>
            <a:r>
              <a:rPr lang="zh-TW" altLang="en-US" dirty="0" smtClean="0">
                <a:solidFill>
                  <a:schemeClr val="tx1"/>
                </a:solidFill>
                <a:latin typeface="標楷體" panose="03000509000000000000" pitchFamily="65" charset="-120"/>
                <a:ea typeface="標楷體" panose="03000509000000000000" pitchFamily="65" charset="-120"/>
              </a:rPr>
              <a:t>心得</a:t>
            </a:r>
            <a:endParaRPr lang="zh-TW" altLang="en-US" dirty="0">
              <a:solidFill>
                <a:schemeClr val="tx1"/>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1815547" y="2133600"/>
            <a:ext cx="10031895" cy="3777622"/>
          </a:xfrm>
        </p:spPr>
        <p:txBody>
          <a:bodyPr/>
          <a:lstStyle/>
          <a:p>
            <a:r>
              <a:rPr lang="zh-TW" altLang="en-US" dirty="0">
                <a:solidFill>
                  <a:schemeClr val="tx1"/>
                </a:solidFill>
                <a:latin typeface="標楷體" panose="03000509000000000000" pitchFamily="65" charset="-120"/>
                <a:ea typeface="標楷體" panose="03000509000000000000" pitchFamily="65" charset="-120"/>
              </a:rPr>
              <a:t>不同地區或品種的海膽適合的運送溫度都不同，需要實際實驗去做調整</a:t>
            </a:r>
            <a:r>
              <a:rPr lang="zh-TW" altLang="en-US" dirty="0" smtClean="0">
                <a:solidFill>
                  <a:schemeClr val="tx1"/>
                </a:solidFill>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有些寄送方式的計價單位是以重量來算</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如機場</a:t>
            </a:r>
            <a:r>
              <a:rPr lang="en-US" altLang="zh-TW" dirty="0" smtClean="0">
                <a:latin typeface="標楷體" panose="03000509000000000000" pitchFamily="65" charset="-120"/>
                <a:ea typeface="標楷體" panose="03000509000000000000" pitchFamily="65" charset="-120"/>
              </a:rPr>
              <a:t>)</a:t>
            </a:r>
            <a:r>
              <a:rPr lang="zh-TW" altLang="en-US" dirty="0" smtClean="0">
                <a:solidFill>
                  <a:schemeClr val="tx1"/>
                </a:solidFill>
                <a:latin typeface="標楷體" panose="03000509000000000000" pitchFamily="65" charset="-120"/>
                <a:ea typeface="標楷體" panose="03000509000000000000" pitchFamily="65" charset="-120"/>
              </a:rPr>
              <a:t>，此時以乾寄的手段去設計會是更省錢的方式</a:t>
            </a:r>
            <a:r>
              <a:rPr lang="zh-TW" altLang="en-US" dirty="0">
                <a:solidFill>
                  <a:schemeClr val="tx1"/>
                </a:solidFill>
                <a:latin typeface="標楷體" panose="03000509000000000000" pitchFamily="65" charset="-120"/>
                <a:ea typeface="標楷體" panose="03000509000000000000" pitchFamily="65" charset="-120"/>
              </a:rPr>
              <a:t>。</a:t>
            </a:r>
            <a:endParaRPr lang="en-US" altLang="zh-TW" dirty="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海膽</a:t>
            </a:r>
            <a:r>
              <a:rPr lang="zh-TW" altLang="en-US" dirty="0" smtClean="0">
                <a:latin typeface="標楷體" panose="03000509000000000000" pitchFamily="65" charset="-120"/>
                <a:ea typeface="標楷體" panose="03000509000000000000" pitchFamily="65" charset="-120"/>
              </a:rPr>
              <a:t>在包裝過程中</a:t>
            </a:r>
            <a:r>
              <a:rPr lang="zh-TW" altLang="en-US" dirty="0">
                <a:solidFill>
                  <a:schemeClr val="tx1"/>
                </a:solidFill>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 相當容易因為</a:t>
            </a:r>
            <a:r>
              <a:rPr lang="zh-TW" altLang="en-US" dirty="0" smtClean="0">
                <a:latin typeface="標楷體" panose="03000509000000000000" pitchFamily="65" charset="-120"/>
                <a:ea typeface="標楷體" panose="03000509000000000000" pitchFamily="65" charset="-120"/>
              </a:rPr>
              <a:t>一點刺激</a:t>
            </a:r>
            <a:r>
              <a:rPr lang="zh-TW" altLang="en-US" dirty="0" smtClean="0">
                <a:latin typeface="標楷體" panose="03000509000000000000" pitchFamily="65" charset="-120"/>
                <a:ea typeface="標楷體" panose="03000509000000000000" pitchFamily="65" charset="-120"/>
              </a:rPr>
              <a:t>就排精卵 </a:t>
            </a:r>
            <a:r>
              <a:rPr lang="zh-TW" altLang="en-US" dirty="0">
                <a:solidFill>
                  <a:schemeClr val="tx1"/>
                </a:solidFill>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影響生殖腺重與</a:t>
            </a:r>
            <a:r>
              <a:rPr lang="zh-TW" altLang="en-US" dirty="0" smtClean="0">
                <a:latin typeface="標楷體" panose="03000509000000000000" pitchFamily="65" charset="-120"/>
                <a:ea typeface="標楷體" panose="03000509000000000000" pitchFamily="65" charset="-120"/>
              </a:rPr>
              <a:t>海膽</a:t>
            </a:r>
            <a:r>
              <a:rPr lang="zh-TW" altLang="en-US" dirty="0">
                <a:latin typeface="標楷體" panose="03000509000000000000" pitchFamily="65" charset="-120"/>
                <a:ea typeface="標楷體" panose="03000509000000000000" pitchFamily="65" charset="-120"/>
              </a:rPr>
              <a:t>濕</a:t>
            </a:r>
            <a:r>
              <a:rPr lang="zh-TW" altLang="en-US" dirty="0" smtClean="0">
                <a:latin typeface="標楷體" panose="03000509000000000000" pitchFamily="65" charset="-120"/>
                <a:ea typeface="標楷體" panose="03000509000000000000" pitchFamily="65" charset="-120"/>
              </a:rPr>
              <a:t>重</a:t>
            </a:r>
            <a:r>
              <a:rPr lang="zh-TW" altLang="en-US" dirty="0" smtClean="0">
                <a:solidFill>
                  <a:schemeClr val="tx1"/>
                </a:solidFill>
                <a:latin typeface="標楷體" panose="03000509000000000000" pitchFamily="65" charset="-120"/>
                <a:ea typeface="標楷體" panose="03000509000000000000" pitchFamily="65" charset="-120"/>
              </a:rPr>
              <a:t>，</a:t>
            </a:r>
            <a:r>
              <a:rPr lang="zh-TW" altLang="en-US" dirty="0">
                <a:solidFill>
                  <a:schemeClr val="tx1"/>
                </a:solidFill>
                <a:latin typeface="標楷體" panose="03000509000000000000" pitchFamily="65" charset="-120"/>
                <a:ea typeface="標楷體" panose="03000509000000000000" pitchFamily="65" charset="-120"/>
              </a:rPr>
              <a:t> </a:t>
            </a:r>
            <a:r>
              <a:rPr lang="zh-TW" altLang="en-US" dirty="0" smtClean="0">
                <a:solidFill>
                  <a:schemeClr val="tx1"/>
                </a:solidFill>
                <a:latin typeface="標楷體" panose="03000509000000000000" pitchFamily="65" charset="-120"/>
                <a:ea typeface="標楷體" panose="03000509000000000000" pitchFamily="65" charset="-120"/>
              </a:rPr>
              <a:t>或含水運送時排精卵 造成水質惡化海膽死亡，</a:t>
            </a:r>
            <a:r>
              <a:rPr lang="zh-TW" altLang="en-US" dirty="0" smtClean="0">
                <a:latin typeface="標楷體" panose="03000509000000000000" pitchFamily="65" charset="-120"/>
                <a:ea typeface="標楷體" panose="03000509000000000000" pitchFamily="65" charset="-120"/>
              </a:rPr>
              <a:t>造成</a:t>
            </a:r>
            <a:r>
              <a:rPr lang="zh-TW" altLang="en-US" dirty="0" smtClean="0">
                <a:latin typeface="標楷體" panose="03000509000000000000" pitchFamily="65" charset="-120"/>
                <a:ea typeface="標楷體" panose="03000509000000000000" pitchFamily="65" charset="-120"/>
              </a:rPr>
              <a:t>經濟損失</a:t>
            </a:r>
            <a:r>
              <a:rPr lang="zh-TW" altLang="en-US" dirty="0">
                <a:solidFill>
                  <a:schemeClr val="tx1"/>
                </a:solidFill>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 我</a:t>
            </a:r>
            <a:r>
              <a:rPr lang="zh-TW" altLang="en-US" dirty="0" smtClean="0">
                <a:latin typeface="標楷體" panose="03000509000000000000" pitchFamily="65" charset="-120"/>
                <a:ea typeface="標楷體" panose="03000509000000000000" pitchFamily="65" charset="-120"/>
              </a:rPr>
              <a:t>認為如果能研發</a:t>
            </a:r>
            <a:r>
              <a:rPr lang="zh-TW" altLang="en-US" dirty="0" smtClean="0">
                <a:latin typeface="標楷體" panose="03000509000000000000" pitchFamily="65" charset="-120"/>
                <a:ea typeface="標楷體" panose="03000509000000000000" pitchFamily="65" charset="-120"/>
              </a:rPr>
              <a:t>可食用的麻醉型藥物採濕式降溫寄</a:t>
            </a:r>
            <a:r>
              <a:rPr lang="zh-TW" altLang="en-US" dirty="0" smtClean="0">
                <a:latin typeface="標楷體" panose="03000509000000000000" pitchFamily="65" charset="-120"/>
                <a:ea typeface="標楷體" panose="03000509000000000000" pitchFamily="65" charset="-120"/>
              </a:rPr>
              <a:t>送可能會有更好的品質跟價格</a:t>
            </a:r>
            <a:r>
              <a:rPr lang="zh-TW" altLang="en-US" dirty="0" smtClean="0">
                <a:solidFill>
                  <a:schemeClr val="tx1"/>
                </a:solidFill>
                <a:latin typeface="標楷體" panose="03000509000000000000" pitchFamily="65" charset="-120"/>
                <a:ea typeface="標楷體" panose="03000509000000000000" pitchFamily="65" charset="-120"/>
              </a:rPr>
              <a:t>。</a:t>
            </a:r>
            <a:endParaRPr lang="zh-TW" altLang="en-US" dirty="0"/>
          </a:p>
        </p:txBody>
      </p:sp>
    </p:spTree>
    <p:extLst>
      <p:ext uri="{BB962C8B-B14F-4D97-AF65-F5344CB8AC3E}">
        <p14:creationId xmlns:p14="http://schemas.microsoft.com/office/powerpoint/2010/main" val="67127577"/>
      </p:ext>
    </p:extLst>
  </p:cSld>
  <p:clrMapOvr>
    <a:masterClrMapping/>
  </p:clrMapOvr>
</p:sld>
</file>

<file path=ppt/theme/theme1.xml><?xml version="1.0" encoding="utf-8"?>
<a:theme xmlns:a="http://schemas.openxmlformats.org/drawingml/2006/main" name="絲縷">
  <a:themeElements>
    <a:clrScheme name="絲縷">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絲縷">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絲縷">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155</TotalTime>
  <Words>2518</Words>
  <Application>Microsoft Office PowerPoint</Application>
  <PresentationFormat>寬螢幕</PresentationFormat>
  <Paragraphs>35</Paragraphs>
  <Slides>16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微軟正黑體</vt:lpstr>
      <vt:lpstr>標楷體</vt:lpstr>
      <vt:lpstr>Arial</vt:lpstr>
      <vt:lpstr>Century Gothic</vt:lpstr>
      <vt:lpstr>Wingdings 3</vt:lpstr>
      <vt:lpstr>絲縷</vt:lpstr>
      <vt:lpstr>活海膽運輸：溫度和離水時間對存活率的影響</vt:lpstr>
      <vt:lpstr>摘要</vt:lpstr>
      <vt:lpstr>海膽構造介紹</vt:lpstr>
      <vt:lpstr>引言</vt:lpstr>
      <vt:lpstr>乾運海膽的主要死亡原因被認為是脫水（Dale et al., 2005）。暴露於空氣中的海膽會產卵並從食道排出體液，這可能會加劇脫水，導致其體重損失相當於三分之一（Arafa et al., 2007; Burnett et al., 2002; James and Evensen, 2022）。然而，在一項商業試驗中，從挪威幹運到日本的綠海膽（S. droebachiensis）僅損失了8%的體重（James and Evensen, 2018）。少量體液流失可能透過增加濕度產生正面影響，正如乾運甲殼類動物和貽貝所觀察到的（例如，Delorme 等，2021；Samet 和 Nakamura，1997）。以純氧取代空氣的海膽也更能進行氣體交換，以避免缺氧（Burnett 等，2002）。更了解海膽暴露於空氣中時會流失多少體液以及體液流失與死亡率之間的關係，或許能為延長海膽乾運時間提供新的思路。降低乾運海膽死亡率的一種方法可能是降低溫度。較低的溫度通常會改善暴露於空氣中的海洋無脊椎動物的健康狀況，因為呼吸和新陳代謝受到抑制，從而延緩缺氧和厭氧代謝的負面影響（例如，de Andrade 等，2021； Giomi 等，2008；Morris 與 Oliver，1999）。</vt:lpstr>
      <vt:lpstr>為了獲得印度洋-太平洋地區運輸海膽所經歷的溫度數據，研究人員使用溫度記錄儀記錄了採用濕式（含海水）和乾式（不含海水）運輸方式包裝的 T. gratilla 所經歷的溫度。為了研究空氣溫度和空氣暴露時間如何相互作用以影響海膽的穩健性，研究人員紀錄 T. gratilla 和 H. erythrogramma 置於空氣暴露時間（6、12、24 或 48 小時）和三種空氣溫度（環境”27 °C冷藏12 °C冷藏4 °C ）的所有組合。</vt:lpstr>
      <vt:lpstr>空氣溫度和暴露時間對死亡率、濕重和翻正能力的影響</vt:lpstr>
      <vt:lpstr>在完成分配的實驗處理後，每隻海膽都重新稱重。海膽的重量變化，以下簡稱質量損失（%），將最終重量除以初始重量乘以 100 來計算。測量最終重量後，海膽立即被放入裝有 1.0 L 海水的食品級圓柱形PC容器（直徑 12.5 cm × 高 9.5 cm）。然後將裝有活海膽的容器放入流通式海水系統中，每個容器透過滴水器以 6.0 L/h 的速率獲得海水 將海膽放回水中後，密切監測3小時，並記錄它們在離水時是否產卵（即釋放配子），或在放回水中時是否產卵，以及它們是否漂浮。在空氣暴露期結束時，評估了 T. gratilla 和 H. erythrogramma 的死亡率，並隨後進行了 15 天的觀察。如果海膽沒有表現出任何運動，棘刺下垂，並且無法在 900 秒內恢復平衡，則根據 Lares 和 McClintock (1991) 的方法，將其判定為死亡。總死亡率以百分比表示，計算方法為：存活動物的數量除以每個處理組的初始重複海膽數量，再乘以 100。在實驗開始時，即海膽被放回水中 3 小時後，評估其翻正行為，之後每 4 天評估一次，直至第 15 天，評估方法遵循標準流程（Brothers 和 McClintock，2015；Challener 和 McClintock，2013）。翻正行為被記錄為翻正成功率（900秒內能否翻正）和翻正時間（海膽翻轉後重新調整方向所需的時間）。存活但900秒後仍無法重新調整方向的海膽，其翻正時間記為900秒。 </vt:lpstr>
      <vt:lpstr>PowerPoint 簡報</vt:lpstr>
      <vt:lpstr>實驗示意圖</vt:lpstr>
      <vt:lpstr>死亡率  海膽（Tripneustes gratilla 和 Heliocidaris erythrogramma）在三種不同氣溫處理（冷藏~4℃；冷卻~12℃；環境~27℃）下離水 6-48 小時後，再放回海水中飼養 15 天的總死亡率 。數據以每組處理中死亡海膽佔總海膽數的百分比表示（n=5）。 0 表示該處理組無死亡。</vt:lpstr>
      <vt:lpstr>質量損失 空溫和空氣暴露時間之間有顯著的交互作用。對於在離水環境中放置6小時的T. gratilla，不同空氣溫度處理組中個體質量損失百分比無統計學差異。對於在離水環境中放置12小時的T. gratilla，環境溫度處理組（~27℃）的個體質量損失百分比是冷藏處理組（~4℃）的1.2倍，但兩者與冷卻處理組（~12℃）均無顯著差異對於在離水條件下放置 24 小時和 48 小時的 T. gratilla，在常溫處理組中海膽的質量損失百分比分別是冷藏組和冷卻組的 2-3 倍，而冷藏組和冷卻組的質量損失百分比沒有差異</vt:lpstr>
      <vt:lpstr>翻正行為</vt:lpstr>
      <vt:lpstr>容器比較</vt:lpstr>
      <vt:lpstr>結論</vt:lpstr>
      <vt:lpstr>心得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活海膽運輸：溫度和離水時間對存活率的影響</dc:title>
  <dc:creator>江穎</dc:creator>
  <cp:lastModifiedBy>江穎</cp:lastModifiedBy>
  <cp:revision>15</cp:revision>
  <dcterms:created xsi:type="dcterms:W3CDTF">2025-11-02T15:10:06Z</dcterms:created>
  <dcterms:modified xsi:type="dcterms:W3CDTF">2025-11-03T11:43:38Z</dcterms:modified>
</cp:coreProperties>
</file>